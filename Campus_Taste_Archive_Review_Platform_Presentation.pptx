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24384000" cy="13716000"/>
  <p:notesSz cx="13716000" cy="24384000"/>
  <p:embeddedFontLst>
    <p:embeddedFont>
      <p:font typeface="Liter" panose="02000503030000020004" pitchFamily="34" charset="0"/>
      <p:regular r:id="rId21"/>
    </p:embeddedFont>
    <p:embeddedFont>
      <p:font typeface="Liter" panose="02000503030000020004" pitchFamily="34" charset="-122"/>
      <p:regular r:id="rId22"/>
    </p:embeddedFont>
    <p:embeddedFont>
      <p:font typeface="Liter" panose="02000503030000020004" pitchFamily="34" charset="-120"/>
      <p:regular r:id="rId23"/>
    </p:embeddedFont>
    <p:embeddedFont>
      <p:font typeface="Calibri" panose="020F0502020204030204" charset="0"/>
      <p:regular r:id="rId24"/>
      <p:bold r:id="rId25"/>
      <p:italic r:id="rId26"/>
      <p:boldItalic r:id="rId27"/>
    </p:embeddedFont>
    <p:embeddedFont>
      <p:font typeface="等线" panose="02010600030101010101" charset="-122"/>
      <p:regular r:id="rId28"/>
      <p:bold r:id="rId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C0DA"/>
    <a:srgbClr val="46A2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font" Target="fonts/font9.fntdata"/><Relationship Id="rId28" Type="http://schemas.openxmlformats.org/officeDocument/2006/relationships/font" Target="fonts/font8.fntdata"/><Relationship Id="rId27" Type="http://schemas.openxmlformats.org/officeDocument/2006/relationships/font" Target="fonts/font7.fntdata"/><Relationship Id="rId26" Type="http://schemas.openxmlformats.org/officeDocument/2006/relationships/font" Target="fonts/font6.fntdata"/><Relationship Id="rId25" Type="http://schemas.openxmlformats.org/officeDocument/2006/relationships/font" Target="fonts/font5.fntdata"/><Relationship Id="rId24" Type="http://schemas.openxmlformats.org/officeDocument/2006/relationships/font" Target="fonts/font4.fntdata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 Count</c:v>
                </c:pt>
              </c:strCache>
            </c:strRef>
          </c:tx>
          <c:spPr>
            <a:solidFill>
              <a:srgbClr val="7EC0D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6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5 Star</c:v>
                </c:pt>
                <c:pt idx="1">
                  <c:v>4 Star</c:v>
                </c:pt>
                <c:pt idx="2">
                  <c:v>3 Star</c:v>
                </c:pt>
                <c:pt idx="3">
                  <c:v>2 Star</c:v>
                </c:pt>
                <c:pt idx="4">
                  <c:v>1 Star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30</c:v>
                </c:pt>
                <c:pt idx="2">
                  <c:v>15</c:v>
                </c:pt>
                <c:pt idx="3">
                  <c:v>7</c:v>
                </c:pt>
                <c:pt idx="4">
                  <c:v>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555555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rgbClr val="FFFFFF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444444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rgbClr val="AAAAA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ae9fb4ed-aeb1-4a1c-8c36-dee745b0f7fe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58160" y="2151126"/>
            <a:ext cx="17780000" cy="330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altLang="zh-CN" sz="9870" dirty="0">
                <a:solidFill>
                  <a:schemeClr val="bg1"/>
                </a:solidFill>
              </a:rPr>
              <a:t>Campus Taste Archive</a:t>
            </a:r>
            <a:endParaRPr lang="en-US" altLang="zh-CN" sz="987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302000" y="4514215"/>
            <a:ext cx="17780000" cy="1524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0" y="6233795"/>
            <a:ext cx="15240000" cy="889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373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 Real-Name Campus Review Platform</a:t>
            </a:r>
            <a:endParaRPr lang="en-US" sz="3730" dirty="0"/>
          </a:p>
        </p:txBody>
      </p:sp>
      <p:sp>
        <p:nvSpPr>
          <p:cNvPr id="5" name="Text 3"/>
          <p:cNvSpPr/>
          <p:nvPr/>
        </p:nvSpPr>
        <p:spPr>
          <a:xfrm>
            <a:off x="5860415" y="10629900"/>
            <a:ext cx="12663170" cy="889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4400" b="1" kern="0" spc="-12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MIS205 Database Project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678160" y="7783195"/>
            <a:ext cx="2540000" cy="50800"/>
          </a:xfrm>
          <a:prstGeom prst="rect">
            <a:avLst/>
          </a:prstGeom>
          <a:solidFill>
            <a:srgbClr val="7EC0DA"/>
          </a:solidFill>
        </p:spPr>
      </p:sp>
      <p:sp>
        <p:nvSpPr>
          <p:cNvPr id="7" name="文本框 6"/>
          <p:cNvSpPr txBox="1"/>
          <p:nvPr/>
        </p:nvSpPr>
        <p:spPr>
          <a:xfrm>
            <a:off x="8128000" y="8314690"/>
            <a:ext cx="81280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600" b="1">
                <a:solidFill>
                  <a:schemeClr val="bg1"/>
                </a:solidFill>
              </a:rPr>
              <a:t>TEAM 3</a:t>
            </a:r>
            <a:endParaRPr lang="en-US" altLang="zh-CN" sz="3600" b="1">
              <a:solidFill>
                <a:schemeClr val="bg1"/>
              </a:solidFill>
            </a:endParaRPr>
          </a:p>
          <a:p>
            <a:pPr algn="ctr"/>
            <a:r>
              <a:rPr lang="zh-CN" altLang="en-US" sz="3600" b="1">
                <a:solidFill>
                  <a:schemeClr val="bg1"/>
                </a:solidFill>
              </a:rPr>
              <a:t>张庭宁</a:t>
            </a:r>
            <a:r>
              <a:rPr lang="en-US" altLang="zh-CN" sz="3600" b="1">
                <a:solidFill>
                  <a:schemeClr val="bg1"/>
                </a:solidFill>
              </a:rPr>
              <a:t> 12411233</a:t>
            </a:r>
            <a:endParaRPr lang="en-US" altLang="zh-CN" sz="3600" b="1">
              <a:solidFill>
                <a:schemeClr val="bg1"/>
              </a:solidFill>
            </a:endParaRPr>
          </a:p>
          <a:p>
            <a:pPr algn="ctr"/>
            <a:r>
              <a:rPr lang="zh-CN" altLang="en-US" sz="3600" b="1">
                <a:solidFill>
                  <a:schemeClr val="bg1"/>
                </a:solidFill>
              </a:rPr>
              <a:t>胡子晗</a:t>
            </a:r>
            <a:r>
              <a:rPr lang="en-US" altLang="zh-CN" sz="3600" b="1">
                <a:solidFill>
                  <a:schemeClr val="bg1"/>
                </a:solidFill>
              </a:rPr>
              <a:t> 12412451</a:t>
            </a:r>
            <a:endParaRPr lang="en-US" altLang="zh-CN" sz="3600" b="1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884160" y="4716145"/>
            <a:ext cx="81280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9600" b="1">
                <a:solidFill>
                  <a:srgbClr val="7EC0DA"/>
                </a:solidFill>
              </a:rPr>
              <a:t>校园食鉴录</a:t>
            </a:r>
            <a:endParaRPr lang="zh-CN" altLang="en-US" sz="9600" b="1">
              <a:solidFill>
                <a:srgbClr val="7EC0DA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1297940"/>
            <a:ext cx="10160000" cy="330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9870" b="1" kern="0" spc="-12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Agenda</a:t>
            </a:r>
            <a:endParaRPr lang="en-US" sz="987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3862705" y="4671695"/>
            <a:ext cx="216027" cy="216027"/>
          </a:xfrm>
          <a:prstGeom prst="ellipse">
            <a:avLst/>
          </a:prstGeom>
          <a:solidFill>
            <a:srgbClr val="7EC0DA"/>
          </a:solidFill>
        </p:spPr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4497705" y="4417695"/>
            <a:ext cx="7620000" cy="63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Problem &amp; Target User</a:t>
            </a:r>
            <a:endParaRPr lang="en-US" sz="7200" dirty="0"/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4497705" y="5154295"/>
            <a:ext cx="2540000" cy="508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endParaRPr lang="en-US" sz="5400" dirty="0"/>
          </a:p>
        </p:txBody>
      </p:sp>
      <p:sp>
        <p:nvSpPr>
          <p:cNvPr id="7" name="Shape 5"/>
          <p:cNvSpPr/>
          <p:nvPr>
            <p:custDataLst>
              <p:tags r:id="rId4"/>
            </p:custDataLst>
          </p:nvPr>
        </p:nvSpPr>
        <p:spPr>
          <a:xfrm>
            <a:off x="3862705" y="6195695"/>
            <a:ext cx="216027" cy="216027"/>
          </a:xfrm>
          <a:prstGeom prst="ellipse">
            <a:avLst/>
          </a:prstGeom>
          <a:solidFill>
            <a:srgbClr val="7EC0DA"/>
          </a:solidFill>
        </p:spPr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4497705" y="5941695"/>
            <a:ext cx="7620000" cy="63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System Demo (CRUD + Auth)</a:t>
            </a:r>
            <a:endParaRPr lang="en-US" sz="7200" dirty="0"/>
          </a:p>
        </p:txBody>
      </p:sp>
      <p:sp>
        <p:nvSpPr>
          <p:cNvPr id="10" name="Shape 8"/>
          <p:cNvSpPr/>
          <p:nvPr>
            <p:custDataLst>
              <p:tags r:id="rId6"/>
            </p:custDataLst>
          </p:nvPr>
        </p:nvSpPr>
        <p:spPr>
          <a:xfrm>
            <a:off x="3862705" y="7719695"/>
            <a:ext cx="216027" cy="216027"/>
          </a:xfrm>
          <a:prstGeom prst="ellipse">
            <a:avLst/>
          </a:prstGeom>
          <a:solidFill>
            <a:srgbClr val="7EC0DA"/>
          </a:solidFill>
        </p:spPr>
      </p:sp>
      <p:sp>
        <p:nvSpPr>
          <p:cNvPr id="11" name="Text 9"/>
          <p:cNvSpPr/>
          <p:nvPr>
            <p:custDataLst>
              <p:tags r:id="rId7"/>
            </p:custDataLst>
          </p:nvPr>
        </p:nvSpPr>
        <p:spPr>
          <a:xfrm>
            <a:off x="4497705" y="7465695"/>
            <a:ext cx="7620000" cy="63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Reflections &amp; Learnings</a:t>
            </a:r>
            <a:endParaRPr lang="en-US" sz="72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2540000"/>
            <a:ext cx="10623931" cy="16300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kern="0" spc="-120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49680" y="4445000"/>
            <a:ext cx="13357225" cy="330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9870" b="1" kern="0" spc="-12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Problem &amp;Target User</a:t>
            </a:r>
            <a:endParaRPr lang="en-US" sz="9870" dirty="0"/>
          </a:p>
        </p:txBody>
      </p:sp>
      <p:sp>
        <p:nvSpPr>
          <p:cNvPr id="4" name="Text 2"/>
          <p:cNvSpPr/>
          <p:nvPr/>
        </p:nvSpPr>
        <p:spPr>
          <a:xfrm>
            <a:off x="1636395" y="6858000"/>
            <a:ext cx="10623931" cy="88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373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Why we built this and who it's for</a:t>
            </a:r>
            <a:endParaRPr lang="en-US" sz="3730" dirty="0"/>
          </a:p>
        </p:txBody>
      </p:sp>
      <p:pic>
        <p:nvPicPr>
          <p:cNvPr id="5" name="Image 0" descr="https://images.unsplash.com/photo-1523050854058-8df90110c9f1?w=12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70000" y="0"/>
            <a:ext cx="10414000" cy="13716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1016000"/>
            <a:ext cx="20320000" cy="1143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5600" b="1" kern="0" spc="-12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The Problem: Fake Reviews Everywhere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1249680" y="2286000"/>
            <a:ext cx="17780000" cy="762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373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College students face three critical pain points</a:t>
            </a:r>
            <a:endParaRPr lang="en-US" sz="3730" dirty="0"/>
          </a:p>
        </p:txBody>
      </p:sp>
      <p:sp>
        <p:nvSpPr>
          <p:cNvPr id="4" name="Shape 2"/>
          <p:cNvSpPr/>
          <p:nvPr/>
        </p:nvSpPr>
        <p:spPr>
          <a:xfrm>
            <a:off x="1651000" y="3683000"/>
            <a:ext cx="216027" cy="216027"/>
          </a:xfrm>
          <a:prstGeom prst="ellipse">
            <a:avLst/>
          </a:prstGeom>
          <a:solidFill>
            <a:srgbClr val="7EC0DA"/>
          </a:solidFill>
        </p:spPr>
      </p:sp>
      <p:sp>
        <p:nvSpPr>
          <p:cNvPr id="5" name="Text 3"/>
          <p:cNvSpPr/>
          <p:nvPr/>
        </p:nvSpPr>
        <p:spPr>
          <a:xfrm>
            <a:off x="2159000" y="3556000"/>
            <a:ext cx="8890000" cy="889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4130" b="1" kern="0" spc="-120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FAKE REVIEWS FLOODED</a:t>
            </a:r>
            <a:endParaRPr lang="en-US" sz="4130" dirty="0"/>
          </a:p>
        </p:txBody>
      </p:sp>
      <p:sp>
        <p:nvSpPr>
          <p:cNvPr id="6" name="Text 4"/>
          <p:cNvSpPr/>
          <p:nvPr/>
        </p:nvSpPr>
        <p:spPr>
          <a:xfrm>
            <a:off x="2159000" y="4508500"/>
            <a:ext cx="8890000" cy="196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93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Existing platforms are overwhelmed with paid reviews. It's nearly impossible to tell which reviews are genuine.</a:t>
            </a:r>
            <a:endParaRPr lang="en-US" sz="2930" dirty="0"/>
          </a:p>
        </p:txBody>
      </p:sp>
      <p:sp>
        <p:nvSpPr>
          <p:cNvPr id="7" name="Shape 5"/>
          <p:cNvSpPr/>
          <p:nvPr/>
        </p:nvSpPr>
        <p:spPr>
          <a:xfrm>
            <a:off x="1651000" y="6604000"/>
            <a:ext cx="216027" cy="216027"/>
          </a:xfrm>
          <a:prstGeom prst="ellipse">
            <a:avLst/>
          </a:prstGeom>
          <a:solidFill>
            <a:srgbClr val="7EC0DA"/>
          </a:solidFill>
        </p:spPr>
      </p:sp>
      <p:sp>
        <p:nvSpPr>
          <p:cNvPr id="8" name="Text 6"/>
          <p:cNvSpPr/>
          <p:nvPr/>
        </p:nvSpPr>
        <p:spPr>
          <a:xfrm>
            <a:off x="2159000" y="6477000"/>
            <a:ext cx="8890000" cy="889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4130" b="1" kern="0" spc="-120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NO CAMPUS FOCUS</a:t>
            </a:r>
            <a:endParaRPr lang="en-US" sz="4130" dirty="0"/>
          </a:p>
        </p:txBody>
      </p:sp>
      <p:sp>
        <p:nvSpPr>
          <p:cNvPr id="9" name="Text 7"/>
          <p:cNvSpPr/>
          <p:nvPr/>
        </p:nvSpPr>
        <p:spPr>
          <a:xfrm>
            <a:off x="2159000" y="7429500"/>
            <a:ext cx="8890000" cy="196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93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General review platforms lack campus-specific shop coverage. Students can't find reviews for shops near their university.</a:t>
            </a:r>
            <a:endParaRPr lang="en-US" sz="2930" dirty="0"/>
          </a:p>
        </p:txBody>
      </p:sp>
      <p:sp>
        <p:nvSpPr>
          <p:cNvPr id="10" name="Shape 8"/>
          <p:cNvSpPr/>
          <p:nvPr/>
        </p:nvSpPr>
        <p:spPr>
          <a:xfrm>
            <a:off x="1651000" y="9525000"/>
            <a:ext cx="216027" cy="216027"/>
          </a:xfrm>
          <a:prstGeom prst="ellipse">
            <a:avLst/>
          </a:prstGeom>
          <a:solidFill>
            <a:srgbClr val="7EC0DA"/>
          </a:solidFill>
        </p:spPr>
      </p:sp>
      <p:sp>
        <p:nvSpPr>
          <p:cNvPr id="11" name="Text 9"/>
          <p:cNvSpPr/>
          <p:nvPr/>
        </p:nvSpPr>
        <p:spPr>
          <a:xfrm>
            <a:off x="2159000" y="9398000"/>
            <a:ext cx="8890000" cy="889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4130" b="1" kern="0" spc="-120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ANONYMOUS MANIPULATION</a:t>
            </a:r>
            <a:endParaRPr lang="en-US" sz="4130" dirty="0"/>
          </a:p>
        </p:txBody>
      </p:sp>
      <p:sp>
        <p:nvSpPr>
          <p:cNvPr id="12" name="Text 10"/>
          <p:cNvSpPr/>
          <p:nvPr/>
        </p:nvSpPr>
        <p:spPr>
          <a:xfrm>
            <a:off x="2159000" y="10350500"/>
            <a:ext cx="8890000" cy="196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93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Anonymous accounts allow one person to create multiple profiles, flooding the platform with biased or fake ratings.</a:t>
            </a:r>
            <a:endParaRPr lang="en-US" sz="2930" dirty="0"/>
          </a:p>
        </p:txBody>
      </p:sp>
      <p:sp>
        <p:nvSpPr>
          <p:cNvPr id="14" name="Text 12"/>
          <p:cNvSpPr/>
          <p:nvPr/>
        </p:nvSpPr>
        <p:spPr>
          <a:xfrm>
            <a:off x="13970000" y="4826000"/>
            <a:ext cx="8255000" cy="177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970000" y="6858000"/>
            <a:ext cx="8255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6" name="图片 15" descr="微信图片_20260524230749_81_19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34035" y="3048000"/>
            <a:ext cx="8733155" cy="517906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2912090" y="9116060"/>
            <a:ext cx="109550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</a:rPr>
              <a:t>Rating inflation is evident, with most delivery platform scores clustering at the high end.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1016000"/>
            <a:ext cx="21590000" cy="1143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5600" b="1" kern="0" spc="-12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Our Solution: Real-Name Red &amp; Black List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1249680" y="2286000"/>
            <a:ext cx="17780000" cy="762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373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 trusted review platform built exclusively for college students</a:t>
            </a:r>
            <a:endParaRPr lang="en-US" sz="3730" dirty="0"/>
          </a:p>
        </p:txBody>
      </p:sp>
      <p:sp>
        <p:nvSpPr>
          <p:cNvPr id="4" name="Shape 2"/>
          <p:cNvSpPr/>
          <p:nvPr/>
        </p:nvSpPr>
        <p:spPr>
          <a:xfrm>
            <a:off x="1249680" y="3810000"/>
            <a:ext cx="6858000" cy="546100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5" name="Shape 3"/>
          <p:cNvSpPr/>
          <p:nvPr/>
        </p:nvSpPr>
        <p:spPr>
          <a:xfrm>
            <a:off x="1603375" y="4191000"/>
            <a:ext cx="857250" cy="762000"/>
          </a:xfrm>
          <a:custGeom>
            <a:avLst/>
            <a:gdLst/>
            <a:ahLst/>
            <a:cxnLst/>
            <a:rect l="l" t="t" r="r" b="b"/>
            <a:pathLst>
              <a:path w="857250" h="762000">
                <a:moveTo>
                  <a:pt x="0" y="142875"/>
                </a:moveTo>
                <a:cubicBezTo>
                  <a:pt x="0" y="90339"/>
                  <a:pt x="42714" y="47625"/>
                  <a:pt x="95250" y="47625"/>
                </a:cubicBezTo>
                <a:lnTo>
                  <a:pt x="762000" y="47625"/>
                </a:lnTo>
                <a:cubicBezTo>
                  <a:pt x="814536" y="47625"/>
                  <a:pt x="857250" y="90339"/>
                  <a:pt x="857250" y="142875"/>
                </a:cubicBezTo>
                <a:lnTo>
                  <a:pt x="0" y="142875"/>
                </a:lnTo>
                <a:close/>
                <a:moveTo>
                  <a:pt x="0" y="214313"/>
                </a:moveTo>
                <a:lnTo>
                  <a:pt x="857250" y="214313"/>
                </a:lnTo>
                <a:lnTo>
                  <a:pt x="857250" y="619125"/>
                </a:lnTo>
                <a:cubicBezTo>
                  <a:pt x="857250" y="671661"/>
                  <a:pt x="814536" y="714375"/>
                  <a:pt x="762000" y="714375"/>
                </a:cubicBezTo>
                <a:lnTo>
                  <a:pt x="95250" y="714375"/>
                </a:lnTo>
                <a:cubicBezTo>
                  <a:pt x="42714" y="714375"/>
                  <a:pt x="0" y="671661"/>
                  <a:pt x="0" y="619125"/>
                </a:cubicBezTo>
                <a:lnTo>
                  <a:pt x="0" y="214313"/>
                </a:lnTo>
                <a:close/>
                <a:moveTo>
                  <a:pt x="368052" y="619125"/>
                </a:moveTo>
                <a:cubicBezTo>
                  <a:pt x="398115" y="619125"/>
                  <a:pt x="420588" y="590252"/>
                  <a:pt x="401389" y="567035"/>
                </a:cubicBezTo>
                <a:cubicBezTo>
                  <a:pt x="379512" y="540693"/>
                  <a:pt x="346472" y="523875"/>
                  <a:pt x="309563" y="523875"/>
                </a:cubicBezTo>
                <a:lnTo>
                  <a:pt x="214313" y="523875"/>
                </a:lnTo>
                <a:cubicBezTo>
                  <a:pt x="177403" y="523875"/>
                  <a:pt x="144363" y="540693"/>
                  <a:pt x="122486" y="567035"/>
                </a:cubicBezTo>
                <a:cubicBezTo>
                  <a:pt x="103287" y="590252"/>
                  <a:pt x="125760" y="619125"/>
                  <a:pt x="155823" y="619125"/>
                </a:cubicBezTo>
                <a:lnTo>
                  <a:pt x="367903" y="619125"/>
                </a:lnTo>
                <a:close/>
                <a:moveTo>
                  <a:pt x="261938" y="464344"/>
                </a:moveTo>
                <a:cubicBezTo>
                  <a:pt x="307936" y="464344"/>
                  <a:pt x="345281" y="426999"/>
                  <a:pt x="345281" y="381000"/>
                </a:cubicBezTo>
                <a:cubicBezTo>
                  <a:pt x="345281" y="335001"/>
                  <a:pt x="307936" y="297656"/>
                  <a:pt x="261938" y="297656"/>
                </a:cubicBezTo>
                <a:cubicBezTo>
                  <a:pt x="215939" y="297656"/>
                  <a:pt x="178594" y="335001"/>
                  <a:pt x="178594" y="381000"/>
                </a:cubicBezTo>
                <a:cubicBezTo>
                  <a:pt x="178594" y="426999"/>
                  <a:pt x="215939" y="464344"/>
                  <a:pt x="261938" y="464344"/>
                </a:cubicBezTo>
                <a:close/>
                <a:moveTo>
                  <a:pt x="535781" y="309563"/>
                </a:moveTo>
                <a:cubicBezTo>
                  <a:pt x="515987" y="309563"/>
                  <a:pt x="500063" y="325487"/>
                  <a:pt x="500063" y="345281"/>
                </a:cubicBezTo>
                <a:cubicBezTo>
                  <a:pt x="500063" y="365075"/>
                  <a:pt x="515987" y="381000"/>
                  <a:pt x="535781" y="381000"/>
                </a:cubicBezTo>
                <a:lnTo>
                  <a:pt x="702469" y="381000"/>
                </a:lnTo>
                <a:cubicBezTo>
                  <a:pt x="722263" y="381000"/>
                  <a:pt x="738188" y="365075"/>
                  <a:pt x="738188" y="345281"/>
                </a:cubicBezTo>
                <a:cubicBezTo>
                  <a:pt x="738188" y="325487"/>
                  <a:pt x="722263" y="309563"/>
                  <a:pt x="702469" y="309563"/>
                </a:cubicBezTo>
                <a:lnTo>
                  <a:pt x="535781" y="309563"/>
                </a:lnTo>
                <a:close/>
                <a:moveTo>
                  <a:pt x="535781" y="452438"/>
                </a:moveTo>
                <a:cubicBezTo>
                  <a:pt x="515987" y="452438"/>
                  <a:pt x="500063" y="468362"/>
                  <a:pt x="500063" y="488156"/>
                </a:cubicBezTo>
                <a:cubicBezTo>
                  <a:pt x="500063" y="507950"/>
                  <a:pt x="515987" y="523875"/>
                  <a:pt x="535781" y="523875"/>
                </a:cubicBezTo>
                <a:lnTo>
                  <a:pt x="702469" y="523875"/>
                </a:lnTo>
                <a:cubicBezTo>
                  <a:pt x="722263" y="523875"/>
                  <a:pt x="738188" y="507950"/>
                  <a:pt x="738188" y="488156"/>
                </a:cubicBezTo>
                <a:cubicBezTo>
                  <a:pt x="738188" y="468362"/>
                  <a:pt x="722263" y="452438"/>
                  <a:pt x="702469" y="452438"/>
                </a:cubicBezTo>
                <a:lnTo>
                  <a:pt x="535781" y="452438"/>
                </a:lnTo>
                <a:close/>
              </a:path>
            </a:pathLst>
          </a:custGeom>
          <a:solidFill>
            <a:srgbClr val="7EC0DA"/>
          </a:solidFill>
        </p:spPr>
      </p:sp>
      <p:sp>
        <p:nvSpPr>
          <p:cNvPr id="6" name="Text 4"/>
          <p:cNvSpPr/>
          <p:nvPr/>
        </p:nvSpPr>
        <p:spPr>
          <a:xfrm>
            <a:off x="1651000" y="5207000"/>
            <a:ext cx="6045200" cy="889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4130" b="1" kern="0" spc="-120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REAL-NAME AUTH</a:t>
            </a:r>
            <a:endParaRPr lang="en-US" sz="4130" dirty="0"/>
          </a:p>
        </p:txBody>
      </p:sp>
      <p:sp>
        <p:nvSpPr>
          <p:cNvPr id="7" name="Text 5"/>
          <p:cNvSpPr/>
          <p:nvPr/>
        </p:nvSpPr>
        <p:spPr>
          <a:xfrm>
            <a:off x="1651000" y="6223000"/>
            <a:ext cx="6045200" cy="2667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93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Each account binds to one unique student ID. Database-level UNIQUE constraint prevents one person from registering multiple accounts.</a:t>
            </a:r>
            <a:endParaRPr lang="en-US" sz="2930" dirty="0"/>
          </a:p>
        </p:txBody>
      </p:sp>
      <p:sp>
        <p:nvSpPr>
          <p:cNvPr id="8" name="Shape 6"/>
          <p:cNvSpPr/>
          <p:nvPr/>
        </p:nvSpPr>
        <p:spPr>
          <a:xfrm>
            <a:off x="8742680" y="3810000"/>
            <a:ext cx="6858000" cy="546100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9" name="Shape 7"/>
          <p:cNvSpPr/>
          <p:nvPr/>
        </p:nvSpPr>
        <p:spPr>
          <a:xfrm>
            <a:off x="9144000" y="4191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99132" y="54025"/>
                </a:moveTo>
                <a:cubicBezTo>
                  <a:pt x="215354" y="65336"/>
                  <a:pt x="219224" y="87660"/>
                  <a:pt x="207913" y="103733"/>
                </a:cubicBezTo>
                <a:lnTo>
                  <a:pt x="124569" y="222796"/>
                </a:lnTo>
                <a:cubicBezTo>
                  <a:pt x="118467" y="231428"/>
                  <a:pt x="108942" y="236934"/>
                  <a:pt x="98375" y="237827"/>
                </a:cubicBezTo>
                <a:cubicBezTo>
                  <a:pt x="87809" y="238720"/>
                  <a:pt x="77391" y="235148"/>
                  <a:pt x="69949" y="227707"/>
                </a:cubicBezTo>
                <a:lnTo>
                  <a:pt x="10418" y="168176"/>
                </a:lnTo>
                <a:cubicBezTo>
                  <a:pt x="-3423" y="154186"/>
                  <a:pt x="-3423" y="131564"/>
                  <a:pt x="10418" y="117574"/>
                </a:cubicBezTo>
                <a:cubicBezTo>
                  <a:pt x="24259" y="103584"/>
                  <a:pt x="47030" y="103733"/>
                  <a:pt x="61020" y="117574"/>
                </a:cubicBezTo>
                <a:lnTo>
                  <a:pt x="90488" y="147042"/>
                </a:lnTo>
                <a:lnTo>
                  <a:pt x="149423" y="62805"/>
                </a:lnTo>
                <a:cubicBezTo>
                  <a:pt x="160734" y="46583"/>
                  <a:pt x="183059" y="42714"/>
                  <a:pt x="199132" y="54025"/>
                </a:cubicBezTo>
                <a:close/>
                <a:moveTo>
                  <a:pt x="199132" y="292150"/>
                </a:moveTo>
                <a:cubicBezTo>
                  <a:pt x="215354" y="303461"/>
                  <a:pt x="219224" y="325785"/>
                  <a:pt x="207913" y="341858"/>
                </a:cubicBezTo>
                <a:lnTo>
                  <a:pt x="124569" y="460921"/>
                </a:lnTo>
                <a:cubicBezTo>
                  <a:pt x="118467" y="469553"/>
                  <a:pt x="108942" y="475059"/>
                  <a:pt x="98375" y="475952"/>
                </a:cubicBezTo>
                <a:cubicBezTo>
                  <a:pt x="87809" y="476845"/>
                  <a:pt x="77391" y="473273"/>
                  <a:pt x="69949" y="465832"/>
                </a:cubicBezTo>
                <a:lnTo>
                  <a:pt x="10418" y="406301"/>
                </a:lnTo>
                <a:cubicBezTo>
                  <a:pt x="-3572" y="392311"/>
                  <a:pt x="-3572" y="369689"/>
                  <a:pt x="10418" y="355848"/>
                </a:cubicBezTo>
                <a:cubicBezTo>
                  <a:pt x="24408" y="342007"/>
                  <a:pt x="47030" y="341858"/>
                  <a:pt x="60871" y="355848"/>
                </a:cubicBezTo>
                <a:lnTo>
                  <a:pt x="90339" y="385316"/>
                </a:lnTo>
                <a:lnTo>
                  <a:pt x="149275" y="301079"/>
                </a:lnTo>
                <a:cubicBezTo>
                  <a:pt x="160586" y="284857"/>
                  <a:pt x="182910" y="280987"/>
                  <a:pt x="198983" y="292298"/>
                </a:cubicBezTo>
                <a:close/>
                <a:moveTo>
                  <a:pt x="333375" y="142875"/>
                </a:moveTo>
                <a:cubicBezTo>
                  <a:pt x="333375" y="116532"/>
                  <a:pt x="354657" y="95250"/>
                  <a:pt x="381000" y="95250"/>
                </a:cubicBezTo>
                <a:lnTo>
                  <a:pt x="714375" y="95250"/>
                </a:lnTo>
                <a:cubicBezTo>
                  <a:pt x="740718" y="95250"/>
                  <a:pt x="762000" y="116532"/>
                  <a:pt x="762000" y="142875"/>
                </a:cubicBezTo>
                <a:cubicBezTo>
                  <a:pt x="762000" y="169218"/>
                  <a:pt x="740718" y="190500"/>
                  <a:pt x="714375" y="190500"/>
                </a:cubicBezTo>
                <a:lnTo>
                  <a:pt x="381000" y="190500"/>
                </a:lnTo>
                <a:cubicBezTo>
                  <a:pt x="354657" y="190500"/>
                  <a:pt x="333375" y="169218"/>
                  <a:pt x="333375" y="142875"/>
                </a:cubicBezTo>
                <a:close/>
                <a:moveTo>
                  <a:pt x="333375" y="381000"/>
                </a:moveTo>
                <a:cubicBezTo>
                  <a:pt x="333375" y="354657"/>
                  <a:pt x="354657" y="333375"/>
                  <a:pt x="381000" y="333375"/>
                </a:cubicBezTo>
                <a:lnTo>
                  <a:pt x="714375" y="333375"/>
                </a:lnTo>
                <a:cubicBezTo>
                  <a:pt x="740718" y="333375"/>
                  <a:pt x="762000" y="354657"/>
                  <a:pt x="762000" y="381000"/>
                </a:cubicBezTo>
                <a:cubicBezTo>
                  <a:pt x="762000" y="407343"/>
                  <a:pt x="740718" y="428625"/>
                  <a:pt x="714375" y="428625"/>
                </a:cubicBezTo>
                <a:lnTo>
                  <a:pt x="381000" y="428625"/>
                </a:lnTo>
                <a:cubicBezTo>
                  <a:pt x="354657" y="428625"/>
                  <a:pt x="333375" y="407343"/>
                  <a:pt x="333375" y="381000"/>
                </a:cubicBezTo>
                <a:close/>
                <a:moveTo>
                  <a:pt x="238125" y="619125"/>
                </a:moveTo>
                <a:cubicBezTo>
                  <a:pt x="238125" y="592782"/>
                  <a:pt x="259407" y="571500"/>
                  <a:pt x="285750" y="571500"/>
                </a:cubicBezTo>
                <a:lnTo>
                  <a:pt x="714375" y="571500"/>
                </a:lnTo>
                <a:cubicBezTo>
                  <a:pt x="740718" y="571500"/>
                  <a:pt x="762000" y="592782"/>
                  <a:pt x="762000" y="619125"/>
                </a:cubicBezTo>
                <a:cubicBezTo>
                  <a:pt x="762000" y="645468"/>
                  <a:pt x="740718" y="666750"/>
                  <a:pt x="714375" y="666750"/>
                </a:cubicBezTo>
                <a:lnTo>
                  <a:pt x="285750" y="666750"/>
                </a:lnTo>
                <a:cubicBezTo>
                  <a:pt x="259407" y="666750"/>
                  <a:pt x="238125" y="645468"/>
                  <a:pt x="238125" y="619125"/>
                </a:cubicBezTo>
                <a:close/>
                <a:moveTo>
                  <a:pt x="95250" y="559594"/>
                </a:moveTo>
                <a:cubicBezTo>
                  <a:pt x="128106" y="559594"/>
                  <a:pt x="154781" y="586269"/>
                  <a:pt x="154781" y="619125"/>
                </a:cubicBezTo>
                <a:cubicBezTo>
                  <a:pt x="154781" y="651981"/>
                  <a:pt x="128106" y="678656"/>
                  <a:pt x="95250" y="678656"/>
                </a:cubicBezTo>
                <a:cubicBezTo>
                  <a:pt x="62394" y="678656"/>
                  <a:pt x="35719" y="651981"/>
                  <a:pt x="35719" y="619125"/>
                </a:cubicBezTo>
                <a:cubicBezTo>
                  <a:pt x="35719" y="586269"/>
                  <a:pt x="62394" y="559594"/>
                  <a:pt x="95250" y="559594"/>
                </a:cubicBezTo>
                <a:close/>
              </a:path>
            </a:pathLst>
          </a:custGeom>
          <a:solidFill>
            <a:srgbClr val="7EC0DA"/>
          </a:solidFill>
        </p:spPr>
      </p:sp>
      <p:sp>
        <p:nvSpPr>
          <p:cNvPr id="10" name="Text 8"/>
          <p:cNvSpPr/>
          <p:nvPr/>
        </p:nvSpPr>
        <p:spPr>
          <a:xfrm>
            <a:off x="9144000" y="5207000"/>
            <a:ext cx="6045200" cy="889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4130" b="1" kern="0" spc="-120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RED &amp; BLACK LIST</a:t>
            </a:r>
            <a:endParaRPr lang="en-US" sz="4130" dirty="0"/>
          </a:p>
        </p:txBody>
      </p:sp>
      <p:sp>
        <p:nvSpPr>
          <p:cNvPr id="11" name="Text 9"/>
          <p:cNvSpPr/>
          <p:nvPr/>
        </p:nvSpPr>
        <p:spPr>
          <a:xfrm>
            <a:off x="9144000" y="6223000"/>
            <a:ext cx="6045200" cy="2667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93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Reviews tagged as Red List (recommended, 4-5 stars) or Black List (avoid, 1-2 stars). Clear visual distinction for quick decisions.</a:t>
            </a:r>
            <a:endParaRPr lang="en-US" sz="2930" dirty="0"/>
          </a:p>
        </p:txBody>
      </p:sp>
      <p:sp>
        <p:nvSpPr>
          <p:cNvPr id="12" name="Shape 10"/>
          <p:cNvSpPr/>
          <p:nvPr/>
        </p:nvSpPr>
        <p:spPr>
          <a:xfrm>
            <a:off x="16235680" y="3810000"/>
            <a:ext cx="6858000" cy="546100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3" name="Shape 11"/>
          <p:cNvSpPr/>
          <p:nvPr/>
        </p:nvSpPr>
        <p:spPr>
          <a:xfrm>
            <a:off x="16589375" y="4191000"/>
            <a:ext cx="857250" cy="762000"/>
          </a:xfrm>
          <a:custGeom>
            <a:avLst/>
            <a:gdLst/>
            <a:ahLst/>
            <a:cxnLst/>
            <a:rect l="l" t="t" r="r" b="b"/>
            <a:pathLst>
              <a:path w="857250" h="762000">
                <a:moveTo>
                  <a:pt x="460623" y="-28129"/>
                </a:moveTo>
                <a:cubicBezTo>
                  <a:pt x="454521" y="-40035"/>
                  <a:pt x="442168" y="-47625"/>
                  <a:pt x="428774" y="-47625"/>
                </a:cubicBezTo>
                <a:cubicBezTo>
                  <a:pt x="415379" y="-47625"/>
                  <a:pt x="403027" y="-40035"/>
                  <a:pt x="396925" y="-28129"/>
                </a:cubicBezTo>
                <a:lnTo>
                  <a:pt x="287387" y="186482"/>
                </a:lnTo>
                <a:lnTo>
                  <a:pt x="49411" y="224284"/>
                </a:lnTo>
                <a:cubicBezTo>
                  <a:pt x="36165" y="226368"/>
                  <a:pt x="25152" y="235744"/>
                  <a:pt x="20985" y="248543"/>
                </a:cubicBezTo>
                <a:cubicBezTo>
                  <a:pt x="16818" y="261342"/>
                  <a:pt x="20241" y="275332"/>
                  <a:pt x="29617" y="284857"/>
                </a:cubicBezTo>
                <a:lnTo>
                  <a:pt x="199876" y="455265"/>
                </a:lnTo>
                <a:lnTo>
                  <a:pt x="162371" y="693241"/>
                </a:lnTo>
                <a:cubicBezTo>
                  <a:pt x="160288" y="706487"/>
                  <a:pt x="165795" y="719882"/>
                  <a:pt x="176659" y="727770"/>
                </a:cubicBezTo>
                <a:cubicBezTo>
                  <a:pt x="187523" y="735657"/>
                  <a:pt x="201811" y="736848"/>
                  <a:pt x="213866" y="730746"/>
                </a:cubicBezTo>
                <a:lnTo>
                  <a:pt x="428774" y="621506"/>
                </a:lnTo>
                <a:lnTo>
                  <a:pt x="643533" y="730746"/>
                </a:lnTo>
                <a:cubicBezTo>
                  <a:pt x="655439" y="736848"/>
                  <a:pt x="669875" y="735657"/>
                  <a:pt x="680740" y="727770"/>
                </a:cubicBezTo>
                <a:cubicBezTo>
                  <a:pt x="691604" y="719882"/>
                  <a:pt x="697111" y="706636"/>
                  <a:pt x="695027" y="693241"/>
                </a:cubicBezTo>
                <a:lnTo>
                  <a:pt x="657374" y="455265"/>
                </a:lnTo>
                <a:lnTo>
                  <a:pt x="827633" y="284857"/>
                </a:lnTo>
                <a:cubicBezTo>
                  <a:pt x="837158" y="275332"/>
                  <a:pt x="840432" y="261342"/>
                  <a:pt x="836265" y="248543"/>
                </a:cubicBezTo>
                <a:cubicBezTo>
                  <a:pt x="832098" y="235744"/>
                  <a:pt x="821234" y="226368"/>
                  <a:pt x="807839" y="224284"/>
                </a:cubicBezTo>
                <a:lnTo>
                  <a:pt x="570012" y="186482"/>
                </a:lnTo>
                <a:lnTo>
                  <a:pt x="460623" y="-28129"/>
                </a:lnTo>
                <a:close/>
              </a:path>
            </a:pathLst>
          </a:custGeom>
          <a:solidFill>
            <a:srgbClr val="7EC0DA"/>
          </a:solidFill>
        </p:spPr>
      </p:sp>
      <p:sp>
        <p:nvSpPr>
          <p:cNvPr id="14" name="Text 12"/>
          <p:cNvSpPr/>
          <p:nvPr/>
        </p:nvSpPr>
        <p:spPr>
          <a:xfrm>
            <a:off x="16637000" y="5207000"/>
            <a:ext cx="6045200" cy="889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4130" b="1" kern="0" spc="-120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STAR + TAG SYSTEM</a:t>
            </a:r>
            <a:endParaRPr lang="en-US" sz="4130" dirty="0"/>
          </a:p>
        </p:txBody>
      </p:sp>
      <p:sp>
        <p:nvSpPr>
          <p:cNvPr id="15" name="Text 13"/>
          <p:cNvSpPr/>
          <p:nvPr/>
        </p:nvSpPr>
        <p:spPr>
          <a:xfrm>
            <a:off x="16637000" y="6223000"/>
            <a:ext cx="6045200" cy="2667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93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5-star ratings with multi-dimensional tags (food, value, service). PostgreSQL array type enables flexible tag filtering.</a:t>
            </a:r>
            <a:endParaRPr lang="en-US" sz="2930" dirty="0"/>
          </a:p>
        </p:txBody>
      </p:sp>
      <p:sp>
        <p:nvSpPr>
          <p:cNvPr id="16" name="Text 14"/>
          <p:cNvSpPr/>
          <p:nvPr/>
        </p:nvSpPr>
        <p:spPr>
          <a:xfrm>
            <a:off x="1249680" y="10033000"/>
            <a:ext cx="21844000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"Let every student shop with confidence — no more blind buying."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2540000"/>
            <a:ext cx="10623931" cy="16300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kern="0" spc="-120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49680" y="4362450"/>
            <a:ext cx="10623931" cy="330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9870" b="1" kern="0" spc="-12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System Demo</a:t>
            </a:r>
            <a:endParaRPr lang="en-US" sz="9870" dirty="0"/>
          </a:p>
        </p:txBody>
      </p:sp>
      <p:sp>
        <p:nvSpPr>
          <p:cNvPr id="4" name="Text 2"/>
          <p:cNvSpPr/>
          <p:nvPr/>
        </p:nvSpPr>
        <p:spPr>
          <a:xfrm>
            <a:off x="455930" y="6984365"/>
            <a:ext cx="12211685" cy="177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40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Database design, authentication, CRUD, and search</a:t>
            </a:r>
            <a:endParaRPr lang="en-US" sz="4000" dirty="0"/>
          </a:p>
        </p:txBody>
      </p:sp>
      <p:pic>
        <p:nvPicPr>
          <p:cNvPr id="5" name="Image 0" descr="https://images.unsplash.com/photo-1558494949-ef010cbdcc31?w=1200"/>
          <p:cNvPicPr>
            <a:picLocks noChangeAspect="1"/>
          </p:cNvPicPr>
          <p:nvPr/>
        </p:nvPicPr>
        <p:blipFill>
          <a:blip r:embed="rId1"/>
          <a:srcRect l="28709" r="28709"/>
          <a:stretch>
            <a:fillRect/>
          </a:stretch>
        </p:blipFill>
        <p:spPr>
          <a:xfrm>
            <a:off x="13970000" y="0"/>
            <a:ext cx="10414000" cy="13716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20320000" cy="1143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5600" b="1" kern="0" spc="-12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Database Schema: Two Core Entities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1249680" y="2032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PostgreSQL on Supabase with optimized indexes and RLS policies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1249680" y="3048000"/>
          <a:ext cx="10795000" cy="4572000"/>
        </p:xfrm>
        <a:graphic>
          <a:graphicData uri="http://schemas.openxmlformats.org/drawingml/2006/table">
            <a:tbl>
              <a:tblPr/>
              <a:tblGrid>
                <a:gridCol w="3238500"/>
                <a:gridCol w="2698750"/>
                <a:gridCol w="4857750"/>
              </a:tblGrid>
              <a:tr h="571500">
                <a:tc gridSpan="3"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rgbClr val="7EC0D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Users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id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UUID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Supabase Auth PK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email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VARCHAR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NOT NULL, UNIQUE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student_id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VARCHAR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UNIQUE — anti-spam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student_name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VARCHAR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Real name required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school_name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VARCHAR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University name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is_verified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BOOLEAN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Default FALSE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created_at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TIMESTAMP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DEFAULT NOW()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/>
        </p:nvGraphicFramePr>
        <p:xfrm>
          <a:off x="1249680" y="8001000"/>
          <a:ext cx="10795000" cy="4572000"/>
        </p:xfrm>
        <a:graphic>
          <a:graphicData uri="http://schemas.openxmlformats.org/drawingml/2006/table">
            <a:tbl>
              <a:tblPr/>
              <a:tblGrid>
                <a:gridCol w="3238500"/>
                <a:gridCol w="2698750"/>
                <a:gridCol w="4857750"/>
              </a:tblGrid>
              <a:tr h="571500">
                <a:tc gridSpan="3">
                  <a:txBody>
                    <a:bodyPr/>
                    <a:lstStyle/>
                    <a:p>
                      <a:pPr algn="l"/>
                      <a:r>
                        <a:rPr lang="en-US" sz="2200" b="1" u="none" dirty="0">
                          <a:solidFill>
                            <a:srgbClr val="7EC0D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Posts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id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BIGSERIAL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Auto-increment PK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user_id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UUID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FK → Users, CASCADE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shop_name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VARCHAR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Composite index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rating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INTEGER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CHECK 1-5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type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VARCHAR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'RED' or 'BLACK'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tags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TEXT[]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PostgreSQL array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is_deleted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BOOLEAN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Soft delete flag</a:t>
                      </a:r>
                      <a:endParaRPr lang="en-US" sz="22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12700000" y="3048000"/>
            <a:ext cx="10795000" cy="889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4130" b="1" kern="0" spc="-120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KEY DESIGN DECISIONS</a:t>
            </a:r>
            <a:endParaRPr lang="en-US" sz="4130" dirty="0"/>
          </a:p>
        </p:txBody>
      </p:sp>
      <p:sp>
        <p:nvSpPr>
          <p:cNvPr id="7" name="Shape 3"/>
          <p:cNvSpPr/>
          <p:nvPr/>
        </p:nvSpPr>
        <p:spPr>
          <a:xfrm>
            <a:off x="12700000" y="4064000"/>
            <a:ext cx="216027" cy="216027"/>
          </a:xfrm>
          <a:prstGeom prst="ellipse">
            <a:avLst/>
          </a:prstGeom>
          <a:solidFill>
            <a:srgbClr val="7EC0DA"/>
          </a:solidFill>
        </p:spPr>
      </p:sp>
      <p:sp>
        <p:nvSpPr>
          <p:cNvPr id="4" name="Text 4"/>
          <p:cNvSpPr/>
          <p:nvPr/>
        </p:nvSpPr>
        <p:spPr>
          <a:xfrm>
            <a:off x="13144500" y="3937000"/>
            <a:ext cx="10160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9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Student_id UNIQUE</a:t>
            </a:r>
            <a:r>
              <a:rPr lang="en-US" sz="293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constraint at database level completely prevents multi-account spam</a:t>
            </a:r>
            <a:endParaRPr lang="en-US" sz="2930" dirty="0"/>
          </a:p>
        </p:txBody>
      </p:sp>
      <p:sp>
        <p:nvSpPr>
          <p:cNvPr id="9" name="Shape 5"/>
          <p:cNvSpPr/>
          <p:nvPr/>
        </p:nvSpPr>
        <p:spPr>
          <a:xfrm>
            <a:off x="12700000" y="5842000"/>
            <a:ext cx="216027" cy="216027"/>
          </a:xfrm>
          <a:prstGeom prst="ellipse">
            <a:avLst/>
          </a:prstGeom>
          <a:solidFill>
            <a:srgbClr val="7EC0DA"/>
          </a:solidFill>
        </p:spPr>
      </p:sp>
      <p:sp>
        <p:nvSpPr>
          <p:cNvPr id="10" name="Text 6"/>
          <p:cNvSpPr/>
          <p:nvPr/>
        </p:nvSpPr>
        <p:spPr>
          <a:xfrm>
            <a:off x="13144500" y="5715000"/>
            <a:ext cx="10160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9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Composite index</a:t>
            </a:r>
            <a:r>
              <a:rPr lang="en-US" sz="293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(shop_name, rating) optimizes GROUP BY aggregation for search</a:t>
            </a:r>
            <a:endParaRPr lang="en-US" sz="2930" dirty="0"/>
          </a:p>
        </p:txBody>
      </p:sp>
      <p:sp>
        <p:nvSpPr>
          <p:cNvPr id="11" name="Shape 7"/>
          <p:cNvSpPr/>
          <p:nvPr/>
        </p:nvSpPr>
        <p:spPr>
          <a:xfrm>
            <a:off x="12700000" y="7620000"/>
            <a:ext cx="216027" cy="216027"/>
          </a:xfrm>
          <a:prstGeom prst="ellipse">
            <a:avLst/>
          </a:prstGeom>
          <a:solidFill>
            <a:srgbClr val="7EC0DA"/>
          </a:solidFill>
        </p:spPr>
      </p:sp>
      <p:sp>
        <p:nvSpPr>
          <p:cNvPr id="12" name="Text 8"/>
          <p:cNvSpPr/>
          <p:nvPr/>
        </p:nvSpPr>
        <p:spPr>
          <a:xfrm>
            <a:off x="13144500" y="7493000"/>
            <a:ext cx="10160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9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Soft delete</a:t>
            </a:r>
            <a:r>
              <a:rPr lang="en-US" sz="293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(is_deleted) preserves data integrity and enables audit trails</a:t>
            </a:r>
            <a:endParaRPr lang="en-US" sz="2930" dirty="0"/>
          </a:p>
        </p:txBody>
      </p:sp>
      <p:sp>
        <p:nvSpPr>
          <p:cNvPr id="13" name="Shape 9"/>
          <p:cNvSpPr/>
          <p:nvPr/>
        </p:nvSpPr>
        <p:spPr>
          <a:xfrm>
            <a:off x="12700000" y="9398000"/>
            <a:ext cx="216027" cy="216027"/>
          </a:xfrm>
          <a:prstGeom prst="ellipse">
            <a:avLst/>
          </a:prstGeom>
          <a:solidFill>
            <a:srgbClr val="7EC0DA"/>
          </a:solidFill>
        </p:spPr>
      </p:sp>
      <p:sp>
        <p:nvSpPr>
          <p:cNvPr id="14" name="Text 10"/>
          <p:cNvSpPr/>
          <p:nvPr/>
        </p:nvSpPr>
        <p:spPr>
          <a:xfrm>
            <a:off x="13144500" y="9271000"/>
            <a:ext cx="10160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9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RLS policies</a:t>
            </a:r>
            <a:r>
              <a:rPr lang="en-US" sz="293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enforce row-level security — users only access their own data</a:t>
            </a:r>
            <a:endParaRPr lang="en-US" sz="2930" dirty="0"/>
          </a:p>
        </p:txBody>
      </p:sp>
      <p:sp>
        <p:nvSpPr>
          <p:cNvPr id="5" name="Shape 11"/>
          <p:cNvSpPr/>
          <p:nvPr/>
        </p:nvSpPr>
        <p:spPr>
          <a:xfrm>
            <a:off x="12700000" y="11176000"/>
            <a:ext cx="216027" cy="216027"/>
          </a:xfrm>
          <a:prstGeom prst="ellipse">
            <a:avLst/>
          </a:prstGeom>
          <a:solidFill>
            <a:srgbClr val="7EC0DA"/>
          </a:solidFill>
        </p:spPr>
      </p:sp>
      <p:sp>
        <p:nvSpPr>
          <p:cNvPr id="16" name="Text 12"/>
          <p:cNvSpPr/>
          <p:nvPr/>
        </p:nvSpPr>
        <p:spPr>
          <a:xfrm>
            <a:off x="13144500" y="11049000"/>
            <a:ext cx="10160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9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Tags array</a:t>
            </a:r>
            <a:r>
              <a:rPr lang="en-US" sz="293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(TEXT[]) with GIN index supports flexible multi-dimensional filtering</a:t>
            </a:r>
            <a:endParaRPr lang="en-US" sz="293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20320000" cy="1143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5600" b="1" kern="0" spc="-12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Authentication &amp; Security Design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1249680" y="2032000"/>
            <a:ext cx="11430000" cy="63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Three-layer security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49680" y="3302000"/>
            <a:ext cx="1016000" cy="1016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600" b="1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540000" y="3302000"/>
            <a:ext cx="8890000" cy="889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4130" b="1" kern="0" spc="-120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REAL-NAME VERIFICATION</a:t>
            </a:r>
            <a:endParaRPr lang="en-US" sz="4130" dirty="0"/>
          </a:p>
        </p:txBody>
      </p:sp>
      <p:sp>
        <p:nvSpPr>
          <p:cNvPr id="6" name="Text 4"/>
          <p:cNvSpPr/>
          <p:nvPr/>
        </p:nvSpPr>
        <p:spPr>
          <a:xfrm>
            <a:off x="2540000" y="4318000"/>
            <a:ext cx="8890000" cy="196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93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Users must submit school name, real name, and student ID. The UNIQUE constraint on student_id prevents duplicate registrations.</a:t>
            </a:r>
            <a:endParaRPr lang="en-US" sz="2930" dirty="0"/>
          </a:p>
        </p:txBody>
      </p:sp>
      <p:sp>
        <p:nvSpPr>
          <p:cNvPr id="7" name="Text 5"/>
          <p:cNvSpPr/>
          <p:nvPr/>
        </p:nvSpPr>
        <p:spPr>
          <a:xfrm>
            <a:off x="1249680" y="6350000"/>
            <a:ext cx="1016000" cy="1016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600" b="1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540000" y="6350000"/>
            <a:ext cx="8890000" cy="889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4130" b="1" kern="0" spc="-120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ROUTE GUARDS</a:t>
            </a:r>
            <a:endParaRPr lang="en-US" sz="4130" dirty="0"/>
          </a:p>
        </p:txBody>
      </p:sp>
      <p:sp>
        <p:nvSpPr>
          <p:cNvPr id="9" name="Text 7"/>
          <p:cNvSpPr/>
          <p:nvPr/>
        </p:nvSpPr>
        <p:spPr>
          <a:xfrm>
            <a:off x="2540000" y="7366000"/>
            <a:ext cx="8890000" cy="196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93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Frontend route guards intercept unauthenticated access. Copy-pasting internal URLs after logout triggers forced redirect to login page.</a:t>
            </a:r>
            <a:endParaRPr lang="en-US" sz="2930" dirty="0"/>
          </a:p>
        </p:txBody>
      </p:sp>
      <p:sp>
        <p:nvSpPr>
          <p:cNvPr id="10" name="Text 8"/>
          <p:cNvSpPr/>
          <p:nvPr/>
        </p:nvSpPr>
        <p:spPr>
          <a:xfrm>
            <a:off x="1249680" y="9398000"/>
            <a:ext cx="1016000" cy="1016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600" b="1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40000" y="9398000"/>
            <a:ext cx="8890000" cy="889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4130" b="1" kern="0" spc="-120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JWT + RLS</a:t>
            </a:r>
            <a:endParaRPr lang="en-US" sz="4130" dirty="0"/>
          </a:p>
        </p:txBody>
      </p:sp>
      <p:sp>
        <p:nvSpPr>
          <p:cNvPr id="12" name="Text 10"/>
          <p:cNvSpPr/>
          <p:nvPr/>
        </p:nvSpPr>
        <p:spPr>
          <a:xfrm>
            <a:off x="2540000" y="10414000"/>
            <a:ext cx="8890000" cy="196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93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Every API request validates JWT tokens server-side. Row Level Security policies ensure users can only access and modify their own data.</a:t>
            </a:r>
            <a:endParaRPr lang="en-US" sz="2930" dirty="0"/>
          </a:p>
        </p:txBody>
      </p:sp>
      <p:pic>
        <p:nvPicPr>
          <p:cNvPr id="13" name="Image 0" descr="https://kimi-img.moonshot.cn/pub/slides/okc/eo7tz6bwjugjg/mnt/agents/output/dont-buy-it/images/4_Digital_Padlock_Symbolizing_Cybersecurity.png"/>
          <p:cNvPicPr>
            <a:picLocks noChangeAspect="1"/>
          </p:cNvPicPr>
          <p:nvPr/>
        </p:nvPicPr>
        <p:blipFill>
          <a:blip r:embed="rId1"/>
          <a:srcRect l="12845" r="12845"/>
          <a:stretch>
            <a:fillRect/>
          </a:stretch>
        </p:blipFill>
        <p:spPr>
          <a:xfrm>
            <a:off x="13970000" y="2540000"/>
            <a:ext cx="9525000" cy="8890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20320000" cy="1143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5600" b="1" kern="0" spc="-12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Full CRUD Operations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1249680" y="2032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Complete lifecycle of a review post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49680" y="3302000"/>
            <a:ext cx="5334000" cy="482600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5" name="Shape 3"/>
          <p:cNvSpPr/>
          <p:nvPr/>
        </p:nvSpPr>
        <p:spPr>
          <a:xfrm>
            <a:off x="1690688" y="3683000"/>
            <a:ext cx="555625" cy="635000"/>
          </a:xfrm>
          <a:custGeom>
            <a:avLst/>
            <a:gdLst/>
            <a:ahLst/>
            <a:cxnLst/>
            <a:rect l="l" t="t" r="r" b="b"/>
            <a:pathLst>
              <a:path w="555625" h="635000">
                <a:moveTo>
                  <a:pt x="317500" y="79375"/>
                </a:moveTo>
                <a:cubicBezTo>
                  <a:pt x="317500" y="57423"/>
                  <a:pt x="299765" y="39688"/>
                  <a:pt x="277813" y="39688"/>
                </a:cubicBezTo>
                <a:cubicBezTo>
                  <a:pt x="255860" y="39688"/>
                  <a:pt x="238125" y="57423"/>
                  <a:pt x="238125" y="79375"/>
                </a:cubicBezTo>
                <a:lnTo>
                  <a:pt x="238125" y="277813"/>
                </a:lnTo>
                <a:lnTo>
                  <a:pt x="39688" y="277813"/>
                </a:lnTo>
                <a:cubicBezTo>
                  <a:pt x="17735" y="277813"/>
                  <a:pt x="0" y="295548"/>
                  <a:pt x="0" y="317500"/>
                </a:cubicBezTo>
                <a:cubicBezTo>
                  <a:pt x="0" y="339452"/>
                  <a:pt x="17735" y="357188"/>
                  <a:pt x="39688" y="357188"/>
                </a:cubicBezTo>
                <a:lnTo>
                  <a:pt x="238125" y="357188"/>
                </a:lnTo>
                <a:lnTo>
                  <a:pt x="238125" y="555625"/>
                </a:lnTo>
                <a:cubicBezTo>
                  <a:pt x="238125" y="577577"/>
                  <a:pt x="255860" y="595313"/>
                  <a:pt x="277813" y="595313"/>
                </a:cubicBezTo>
                <a:cubicBezTo>
                  <a:pt x="299765" y="595313"/>
                  <a:pt x="317500" y="577577"/>
                  <a:pt x="317500" y="555625"/>
                </a:cubicBezTo>
                <a:lnTo>
                  <a:pt x="317500" y="357188"/>
                </a:lnTo>
                <a:lnTo>
                  <a:pt x="515937" y="357188"/>
                </a:lnTo>
                <a:cubicBezTo>
                  <a:pt x="537890" y="357188"/>
                  <a:pt x="555625" y="339452"/>
                  <a:pt x="555625" y="317500"/>
                </a:cubicBezTo>
                <a:cubicBezTo>
                  <a:pt x="555625" y="295548"/>
                  <a:pt x="537890" y="277813"/>
                  <a:pt x="515937" y="277813"/>
                </a:cubicBezTo>
                <a:lnTo>
                  <a:pt x="317500" y="277813"/>
                </a:lnTo>
                <a:lnTo>
                  <a:pt x="317500" y="79375"/>
                </a:lnTo>
                <a:close/>
              </a:path>
            </a:pathLst>
          </a:custGeom>
          <a:solidFill>
            <a:srgbClr val="7EC0DA"/>
          </a:solidFill>
        </p:spPr>
      </p:sp>
      <p:sp>
        <p:nvSpPr>
          <p:cNvPr id="6" name="Text 4"/>
          <p:cNvSpPr/>
          <p:nvPr/>
        </p:nvSpPr>
        <p:spPr>
          <a:xfrm>
            <a:off x="1651000" y="4508500"/>
            <a:ext cx="4521200" cy="889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4130" b="1" kern="0" spc="-120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CREATE</a:t>
            </a:r>
            <a:endParaRPr lang="en-US" sz="4130" dirty="0"/>
          </a:p>
        </p:txBody>
      </p:sp>
      <p:sp>
        <p:nvSpPr>
          <p:cNvPr id="7" name="Text 5"/>
          <p:cNvSpPr/>
          <p:nvPr/>
        </p:nvSpPr>
        <p:spPr>
          <a:xfrm>
            <a:off x="1651000" y="5524500"/>
            <a:ext cx="45212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Verified users create posts with shop name, star rating, Red/Black type, title, content, and tags. user_id auto-fills from session.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091680" y="3302000"/>
            <a:ext cx="5334000" cy="482600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9" name="Shape 7"/>
          <p:cNvSpPr/>
          <p:nvPr/>
        </p:nvSpPr>
        <p:spPr>
          <a:xfrm>
            <a:off x="7453312" y="3683000"/>
            <a:ext cx="714375" cy="635000"/>
          </a:xfrm>
          <a:custGeom>
            <a:avLst/>
            <a:gdLst/>
            <a:ahLst/>
            <a:cxnLst/>
            <a:rect l="l" t="t" r="r" b="b"/>
            <a:pathLst>
              <a:path w="714375" h="635000">
                <a:moveTo>
                  <a:pt x="357188" y="39688"/>
                </a:moveTo>
                <a:cubicBezTo>
                  <a:pt x="256977" y="39688"/>
                  <a:pt x="176733" y="85328"/>
                  <a:pt x="118318" y="139650"/>
                </a:cubicBezTo>
                <a:cubicBezTo>
                  <a:pt x="60275" y="193601"/>
                  <a:pt x="21456" y="257969"/>
                  <a:pt x="2977" y="302245"/>
                </a:cubicBezTo>
                <a:cubicBezTo>
                  <a:pt x="-1116" y="312043"/>
                  <a:pt x="-1116" y="322957"/>
                  <a:pt x="2977" y="332755"/>
                </a:cubicBezTo>
                <a:cubicBezTo>
                  <a:pt x="21456" y="377031"/>
                  <a:pt x="60275" y="441523"/>
                  <a:pt x="118318" y="495350"/>
                </a:cubicBezTo>
                <a:cubicBezTo>
                  <a:pt x="176733" y="549548"/>
                  <a:pt x="256977" y="595313"/>
                  <a:pt x="357188" y="595313"/>
                </a:cubicBezTo>
                <a:cubicBezTo>
                  <a:pt x="457398" y="595313"/>
                  <a:pt x="537642" y="549672"/>
                  <a:pt x="596057" y="495350"/>
                </a:cubicBezTo>
                <a:cubicBezTo>
                  <a:pt x="654100" y="441399"/>
                  <a:pt x="692919" y="377031"/>
                  <a:pt x="711398" y="332755"/>
                </a:cubicBezTo>
                <a:cubicBezTo>
                  <a:pt x="715491" y="322957"/>
                  <a:pt x="715491" y="312043"/>
                  <a:pt x="711398" y="302245"/>
                </a:cubicBezTo>
                <a:cubicBezTo>
                  <a:pt x="692919" y="257969"/>
                  <a:pt x="654100" y="193477"/>
                  <a:pt x="596057" y="139650"/>
                </a:cubicBezTo>
                <a:cubicBezTo>
                  <a:pt x="537642" y="85452"/>
                  <a:pt x="457398" y="39687"/>
                  <a:pt x="357188" y="39687"/>
                </a:cubicBezTo>
                <a:close/>
                <a:moveTo>
                  <a:pt x="178594" y="317500"/>
                </a:moveTo>
                <a:cubicBezTo>
                  <a:pt x="178594" y="218931"/>
                  <a:pt x="258619" y="138906"/>
                  <a:pt x="357188" y="138906"/>
                </a:cubicBezTo>
                <a:cubicBezTo>
                  <a:pt x="455756" y="138906"/>
                  <a:pt x="535781" y="218931"/>
                  <a:pt x="535781" y="317500"/>
                </a:cubicBezTo>
                <a:cubicBezTo>
                  <a:pt x="535781" y="416069"/>
                  <a:pt x="455756" y="496094"/>
                  <a:pt x="357188" y="496094"/>
                </a:cubicBezTo>
                <a:cubicBezTo>
                  <a:pt x="258619" y="496094"/>
                  <a:pt x="178594" y="416069"/>
                  <a:pt x="178594" y="317500"/>
                </a:cubicBezTo>
                <a:close/>
                <a:moveTo>
                  <a:pt x="357188" y="238125"/>
                </a:moveTo>
                <a:cubicBezTo>
                  <a:pt x="357188" y="281905"/>
                  <a:pt x="321593" y="317500"/>
                  <a:pt x="277813" y="317500"/>
                </a:cubicBezTo>
                <a:cubicBezTo>
                  <a:pt x="263550" y="317500"/>
                  <a:pt x="250155" y="313779"/>
                  <a:pt x="238497" y="307082"/>
                </a:cubicBezTo>
                <a:cubicBezTo>
                  <a:pt x="237257" y="320601"/>
                  <a:pt x="238373" y="334491"/>
                  <a:pt x="242094" y="348258"/>
                </a:cubicBezTo>
                <a:cubicBezTo>
                  <a:pt x="259085" y="411758"/>
                  <a:pt x="324445" y="449461"/>
                  <a:pt x="387945" y="432470"/>
                </a:cubicBezTo>
                <a:cubicBezTo>
                  <a:pt x="451445" y="415479"/>
                  <a:pt x="489148" y="350118"/>
                  <a:pt x="472157" y="286618"/>
                </a:cubicBezTo>
                <a:cubicBezTo>
                  <a:pt x="457026" y="229939"/>
                  <a:pt x="403324" y="193849"/>
                  <a:pt x="346770" y="198810"/>
                </a:cubicBezTo>
                <a:cubicBezTo>
                  <a:pt x="353343" y="210344"/>
                  <a:pt x="357188" y="223738"/>
                  <a:pt x="357188" y="238125"/>
                </a:cubicBezTo>
                <a:close/>
              </a:path>
            </a:pathLst>
          </a:custGeom>
          <a:solidFill>
            <a:srgbClr val="7EC0DA"/>
          </a:solidFill>
        </p:spPr>
      </p:sp>
      <p:sp>
        <p:nvSpPr>
          <p:cNvPr id="10" name="Text 8"/>
          <p:cNvSpPr/>
          <p:nvPr/>
        </p:nvSpPr>
        <p:spPr>
          <a:xfrm>
            <a:off x="7493000" y="4508500"/>
            <a:ext cx="4521200" cy="889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4130" b="1" kern="0" spc="-120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READ</a:t>
            </a:r>
            <a:endParaRPr lang="en-US" sz="4130" dirty="0"/>
          </a:p>
        </p:txBody>
      </p:sp>
      <p:sp>
        <p:nvSpPr>
          <p:cNvPr id="11" name="Text 9"/>
          <p:cNvSpPr/>
          <p:nvPr/>
        </p:nvSpPr>
        <p:spPr>
          <a:xfrm>
            <a:off x="7493000" y="5524500"/>
            <a:ext cx="45212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Public browsing with fuzzy search by shop name. Filter by Red/Black type, star rating, or tags. Results sorted by recency.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933680" y="3302000"/>
            <a:ext cx="5334000" cy="482600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3" name="Shape 11"/>
          <p:cNvSpPr/>
          <p:nvPr/>
        </p:nvSpPr>
        <p:spPr>
          <a:xfrm>
            <a:off x="13335000" y="3683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437679" y="26293"/>
                </a:moveTo>
                <a:lnTo>
                  <a:pt x="381992" y="81979"/>
                </a:lnTo>
                <a:lnTo>
                  <a:pt x="553021" y="253008"/>
                </a:lnTo>
                <a:lnTo>
                  <a:pt x="608707" y="197321"/>
                </a:lnTo>
                <a:cubicBezTo>
                  <a:pt x="625574" y="180578"/>
                  <a:pt x="635000" y="157758"/>
                  <a:pt x="635000" y="133945"/>
                </a:cubicBezTo>
                <a:cubicBezTo>
                  <a:pt x="635000" y="110133"/>
                  <a:pt x="625574" y="87313"/>
                  <a:pt x="608707" y="70569"/>
                </a:cubicBezTo>
                <a:lnTo>
                  <a:pt x="564431" y="26293"/>
                </a:lnTo>
                <a:cubicBezTo>
                  <a:pt x="547688" y="9426"/>
                  <a:pt x="524867" y="0"/>
                  <a:pt x="501055" y="0"/>
                </a:cubicBezTo>
                <a:cubicBezTo>
                  <a:pt x="477242" y="0"/>
                  <a:pt x="454422" y="9426"/>
                  <a:pt x="437679" y="26293"/>
                </a:cubicBezTo>
                <a:close/>
                <a:moveTo>
                  <a:pt x="339948" y="124023"/>
                </a:moveTo>
                <a:lnTo>
                  <a:pt x="73050" y="390798"/>
                </a:lnTo>
                <a:cubicBezTo>
                  <a:pt x="59779" y="404068"/>
                  <a:pt x="50105" y="420688"/>
                  <a:pt x="45021" y="438795"/>
                </a:cubicBezTo>
                <a:lnTo>
                  <a:pt x="1116" y="597297"/>
                </a:lnTo>
                <a:cubicBezTo>
                  <a:pt x="-1736" y="607591"/>
                  <a:pt x="1116" y="618753"/>
                  <a:pt x="8806" y="626318"/>
                </a:cubicBezTo>
                <a:cubicBezTo>
                  <a:pt x="16495" y="633884"/>
                  <a:pt x="27533" y="636860"/>
                  <a:pt x="37827" y="634008"/>
                </a:cubicBezTo>
                <a:lnTo>
                  <a:pt x="196329" y="589979"/>
                </a:lnTo>
                <a:cubicBezTo>
                  <a:pt x="214437" y="584895"/>
                  <a:pt x="230932" y="575345"/>
                  <a:pt x="244326" y="561950"/>
                </a:cubicBezTo>
                <a:lnTo>
                  <a:pt x="510977" y="295052"/>
                </a:lnTo>
                <a:lnTo>
                  <a:pt x="339948" y="124023"/>
                </a:lnTo>
                <a:close/>
              </a:path>
            </a:pathLst>
          </a:custGeom>
          <a:solidFill>
            <a:srgbClr val="7EC0DA"/>
          </a:solidFill>
        </p:spPr>
      </p:sp>
      <p:sp>
        <p:nvSpPr>
          <p:cNvPr id="14" name="Text 12"/>
          <p:cNvSpPr/>
          <p:nvPr/>
        </p:nvSpPr>
        <p:spPr>
          <a:xfrm>
            <a:off x="13335000" y="4508500"/>
            <a:ext cx="4521200" cy="889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4130" b="1" kern="0" spc="-120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UPDATE</a:t>
            </a:r>
            <a:endParaRPr lang="en-US" sz="4130" dirty="0"/>
          </a:p>
        </p:txBody>
      </p:sp>
      <p:sp>
        <p:nvSpPr>
          <p:cNvPr id="15" name="Text 13"/>
          <p:cNvSpPr/>
          <p:nvPr/>
        </p:nvSpPr>
        <p:spPr>
          <a:xfrm>
            <a:off x="13335000" y="5524500"/>
            <a:ext cx="45212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Users edit their own posts only. Ownership validation checks user_id match. All fields editable with same validation as create.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8775680" y="3302000"/>
            <a:ext cx="5334000" cy="482600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7" name="Shape 15"/>
          <p:cNvSpPr/>
          <p:nvPr/>
        </p:nvSpPr>
        <p:spPr>
          <a:xfrm>
            <a:off x="19216688" y="3683000"/>
            <a:ext cx="555625" cy="635000"/>
          </a:xfrm>
          <a:custGeom>
            <a:avLst/>
            <a:gdLst/>
            <a:ahLst/>
            <a:cxnLst/>
            <a:rect l="l" t="t" r="r" b="b"/>
            <a:pathLst>
              <a:path w="555625" h="635000">
                <a:moveTo>
                  <a:pt x="169540" y="7317"/>
                </a:moveTo>
                <a:lnTo>
                  <a:pt x="158750" y="39688"/>
                </a:lnTo>
                <a:lnTo>
                  <a:pt x="39688" y="39688"/>
                </a:lnTo>
                <a:cubicBezTo>
                  <a:pt x="17735" y="39688"/>
                  <a:pt x="0" y="57423"/>
                  <a:pt x="0" y="79375"/>
                </a:cubicBezTo>
                <a:cubicBezTo>
                  <a:pt x="0" y="101327"/>
                  <a:pt x="17735" y="119062"/>
                  <a:pt x="39688" y="119062"/>
                </a:cubicBezTo>
                <a:lnTo>
                  <a:pt x="515937" y="119062"/>
                </a:lnTo>
                <a:cubicBezTo>
                  <a:pt x="537890" y="119062"/>
                  <a:pt x="555625" y="101327"/>
                  <a:pt x="555625" y="79375"/>
                </a:cubicBezTo>
                <a:cubicBezTo>
                  <a:pt x="555625" y="57423"/>
                  <a:pt x="537890" y="39688"/>
                  <a:pt x="515937" y="39688"/>
                </a:cubicBezTo>
                <a:lnTo>
                  <a:pt x="396875" y="39688"/>
                </a:lnTo>
                <a:lnTo>
                  <a:pt x="386085" y="7317"/>
                </a:lnTo>
                <a:cubicBezTo>
                  <a:pt x="380628" y="-8930"/>
                  <a:pt x="365497" y="-19844"/>
                  <a:pt x="348382" y="-19844"/>
                </a:cubicBezTo>
                <a:lnTo>
                  <a:pt x="207243" y="-19844"/>
                </a:lnTo>
                <a:cubicBezTo>
                  <a:pt x="190128" y="-19844"/>
                  <a:pt x="174997" y="-8930"/>
                  <a:pt x="169540" y="7317"/>
                </a:cubicBezTo>
                <a:close/>
                <a:moveTo>
                  <a:pt x="515937" y="178594"/>
                </a:moveTo>
                <a:lnTo>
                  <a:pt x="39688" y="178594"/>
                </a:lnTo>
                <a:lnTo>
                  <a:pt x="65856" y="579313"/>
                </a:lnTo>
                <a:cubicBezTo>
                  <a:pt x="67841" y="610691"/>
                  <a:pt x="93886" y="635000"/>
                  <a:pt x="125264" y="635000"/>
                </a:cubicBezTo>
                <a:lnTo>
                  <a:pt x="430361" y="635000"/>
                </a:lnTo>
                <a:cubicBezTo>
                  <a:pt x="461739" y="635000"/>
                  <a:pt x="487784" y="610691"/>
                  <a:pt x="489769" y="579313"/>
                </a:cubicBezTo>
                <a:lnTo>
                  <a:pt x="515937" y="178594"/>
                </a:lnTo>
                <a:close/>
              </a:path>
            </a:pathLst>
          </a:custGeom>
          <a:solidFill>
            <a:srgbClr val="7EC0DA"/>
          </a:solidFill>
        </p:spPr>
      </p:sp>
      <p:sp>
        <p:nvSpPr>
          <p:cNvPr id="18" name="Text 16"/>
          <p:cNvSpPr/>
          <p:nvPr/>
        </p:nvSpPr>
        <p:spPr>
          <a:xfrm>
            <a:off x="19177000" y="4508500"/>
            <a:ext cx="4521200" cy="889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4130" b="1" kern="0" spc="-120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DELETE</a:t>
            </a:r>
            <a:endParaRPr lang="en-US" sz="4130" dirty="0"/>
          </a:p>
        </p:txBody>
      </p:sp>
      <p:sp>
        <p:nvSpPr>
          <p:cNvPr id="19" name="Text 17"/>
          <p:cNvSpPr/>
          <p:nvPr/>
        </p:nvSpPr>
        <p:spPr>
          <a:xfrm>
            <a:off x="19177000" y="5524500"/>
            <a:ext cx="45212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Soft delete sets is_deleted = TRUE. Post disappears from user view but remains in database for audit and data integrity.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78600" y="5461000"/>
            <a:ext cx="508000" cy="0"/>
          </a:xfrm>
          <a:prstGeom prst="straightConnector1">
            <a:avLst/>
          </a:prstGeom>
          <a:noFill/>
          <a:ln w="25400">
            <a:solidFill>
              <a:srgbClr val="7EC0DA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12420600" y="5461000"/>
            <a:ext cx="508000" cy="0"/>
          </a:xfrm>
          <a:prstGeom prst="straightConnector1">
            <a:avLst/>
          </a:prstGeom>
          <a:noFill/>
          <a:ln w="25400">
            <a:solidFill>
              <a:srgbClr val="7EC0DA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18262600" y="5461000"/>
            <a:ext cx="508000" cy="0"/>
          </a:xfrm>
          <a:prstGeom prst="straightConnector1">
            <a:avLst/>
          </a:prstGeom>
          <a:noFill/>
          <a:ln w="25400">
            <a:solidFill>
              <a:srgbClr val="7EC0DA"/>
            </a:solidFill>
            <a:prstDash val="solid"/>
            <a:headEnd type="none"/>
            <a:tailEnd type="arrow"/>
          </a:ln>
        </p:spPr>
      </p:sp>
      <p:sp>
        <p:nvSpPr>
          <p:cNvPr id="23" name="Text 21"/>
          <p:cNvSpPr/>
          <p:nvPr/>
        </p:nvSpPr>
        <p:spPr>
          <a:xfrm>
            <a:off x="1249680" y="8890000"/>
            <a:ext cx="21844000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Ownership validation</a:t>
            </a:r>
            <a:r>
              <a:rPr lang="en-US" sz="28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on every operation — users can only modify their own posts via user_id checks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20320000" cy="1143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5600" b="1" kern="0" spc="-12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</a:t>
            </a:r>
            <a:r>
              <a:rPr lang="en-US" sz="5600" b="1" kern="0" spc="-12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mart Search &amp; Rating Aggregation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1249680" y="2032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Search with statistical aggregation powered by PostgreSQL</a:t>
            </a:r>
            <a:endParaRPr lang="en-US" sz="1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1249680" y="3302000"/>
          <a:ext cx="8890000" cy="63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10922000" y="3302000"/>
            <a:ext cx="12065000" cy="889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4130" b="1" kern="0" spc="-120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HOW IT WORKS</a:t>
            </a:r>
            <a:endParaRPr lang="en-US" sz="4130" dirty="0"/>
          </a:p>
        </p:txBody>
      </p:sp>
      <p:sp>
        <p:nvSpPr>
          <p:cNvPr id="6" name="Shape 3"/>
          <p:cNvSpPr/>
          <p:nvPr/>
        </p:nvSpPr>
        <p:spPr>
          <a:xfrm>
            <a:off x="10922000" y="4318000"/>
            <a:ext cx="216027" cy="216027"/>
          </a:xfrm>
          <a:prstGeom prst="ellipse">
            <a:avLst/>
          </a:prstGeom>
          <a:solidFill>
            <a:srgbClr val="7EC0DA"/>
          </a:solidFill>
        </p:spPr>
      </p:sp>
      <p:sp>
        <p:nvSpPr>
          <p:cNvPr id="8" name="Shape 5"/>
          <p:cNvSpPr/>
          <p:nvPr/>
        </p:nvSpPr>
        <p:spPr>
          <a:xfrm>
            <a:off x="10922000" y="5842000"/>
            <a:ext cx="216027" cy="216027"/>
          </a:xfrm>
          <a:prstGeom prst="ellipse">
            <a:avLst/>
          </a:prstGeom>
          <a:solidFill>
            <a:srgbClr val="7EC0DA"/>
          </a:solidFill>
        </p:spPr>
      </p:sp>
      <p:sp>
        <p:nvSpPr>
          <p:cNvPr id="9" name="Text 6"/>
          <p:cNvSpPr/>
          <p:nvPr/>
        </p:nvSpPr>
        <p:spPr>
          <a:xfrm>
            <a:off x="11366500" y="4191000"/>
            <a:ext cx="114300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9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GROUP BY rating</a:t>
            </a:r>
            <a:r>
              <a:rPr lang="en-US" sz="293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aggregates all reviews per star level, computing count and average in a single query</a:t>
            </a:r>
            <a:endParaRPr lang="en-US" sz="2930" dirty="0"/>
          </a:p>
        </p:txBody>
      </p:sp>
      <p:sp>
        <p:nvSpPr>
          <p:cNvPr id="10" name="Shape 7"/>
          <p:cNvSpPr/>
          <p:nvPr/>
        </p:nvSpPr>
        <p:spPr>
          <a:xfrm>
            <a:off x="10922000" y="7366000"/>
            <a:ext cx="216027" cy="216027"/>
          </a:xfrm>
          <a:prstGeom prst="ellipse">
            <a:avLst/>
          </a:prstGeom>
          <a:solidFill>
            <a:srgbClr val="7EC0DA"/>
          </a:solidFill>
        </p:spPr>
      </p:sp>
      <p:sp>
        <p:nvSpPr>
          <p:cNvPr id="11" name="Text 8"/>
          <p:cNvSpPr/>
          <p:nvPr/>
        </p:nvSpPr>
        <p:spPr>
          <a:xfrm>
            <a:off x="11366500" y="5715000"/>
            <a:ext cx="114300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9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Composite index</a:t>
            </a:r>
            <a:r>
              <a:rPr lang="en-US" sz="293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(shop_name, rating) ensures sub-second response even with thousands of reviews</a:t>
            </a:r>
            <a:endParaRPr lang="en-US" sz="2930" dirty="0"/>
          </a:p>
        </p:txBody>
      </p:sp>
      <p:sp>
        <p:nvSpPr>
          <p:cNvPr id="12" name="Shape 9"/>
          <p:cNvSpPr/>
          <p:nvPr/>
        </p:nvSpPr>
        <p:spPr>
          <a:xfrm>
            <a:off x="10922000" y="8890000"/>
            <a:ext cx="216027" cy="216027"/>
          </a:xfrm>
          <a:prstGeom prst="ellipse">
            <a:avLst/>
          </a:prstGeom>
          <a:solidFill>
            <a:srgbClr val="7EC0DA"/>
          </a:solidFill>
        </p:spPr>
      </p:sp>
      <p:sp>
        <p:nvSpPr>
          <p:cNvPr id="13" name="Text 10"/>
          <p:cNvSpPr/>
          <p:nvPr/>
        </p:nvSpPr>
        <p:spPr>
          <a:xfrm>
            <a:off x="11366500" y="7239000"/>
            <a:ext cx="114300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9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Star histogram</a:t>
            </a:r>
            <a:r>
              <a:rPr lang="en-US" sz="293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visually displays rating distribution alongside average score and total review count</a:t>
            </a:r>
            <a:endParaRPr lang="en-US" sz="2930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4650" y="8763000"/>
            <a:ext cx="990600" cy="7524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2540000"/>
            <a:ext cx="10623931" cy="16300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9870" b="1" kern="0" spc="-120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49680" y="4445000"/>
            <a:ext cx="10623931" cy="330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9870" b="1" kern="0" spc="-12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Reflections</a:t>
            </a:r>
            <a:endParaRPr lang="en-US" sz="9870" dirty="0"/>
          </a:p>
        </p:txBody>
      </p:sp>
      <p:sp>
        <p:nvSpPr>
          <p:cNvPr id="4" name="Text 2"/>
          <p:cNvSpPr/>
          <p:nvPr/>
        </p:nvSpPr>
        <p:spPr>
          <a:xfrm>
            <a:off x="1249680" y="8255000"/>
            <a:ext cx="10623931" cy="88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373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What we learned from building with AI</a:t>
            </a:r>
            <a:endParaRPr lang="en-US" sz="3730" dirty="0"/>
          </a:p>
        </p:txBody>
      </p:sp>
      <p:pic>
        <p:nvPicPr>
          <p:cNvPr id="5" name="Image 0" descr="https://images.unsplash.com/photo-1522071820081-009f0129c71c?w=1200"/>
          <p:cNvPicPr>
            <a:picLocks noChangeAspect="1"/>
          </p:cNvPicPr>
          <p:nvPr/>
        </p:nvPicPr>
        <p:blipFill>
          <a:blip r:embed="rId1"/>
          <a:srcRect l="24691" r="24691"/>
          <a:stretch>
            <a:fillRect/>
          </a:stretch>
        </p:blipFill>
        <p:spPr>
          <a:xfrm>
            <a:off x="13970000" y="0"/>
            <a:ext cx="10414000" cy="13716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20320000" cy="1143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5600" b="1" kern="0" spc="-12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What Worked &amp; What Was Hard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1249680" y="2286000"/>
            <a:ext cx="5080000" cy="762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kern="0" spc="-120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WORKED WELL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651000" y="3683000"/>
            <a:ext cx="216027" cy="216027"/>
          </a:xfrm>
          <a:prstGeom prst="ellipse">
            <a:avLst/>
          </a:prstGeom>
          <a:solidFill>
            <a:srgbClr val="7EC0DA"/>
          </a:solidFill>
        </p:spPr>
      </p:sp>
      <p:sp>
        <p:nvSpPr>
          <p:cNvPr id="5" name="Text 3"/>
          <p:cNvSpPr/>
          <p:nvPr/>
        </p:nvSpPr>
        <p:spPr>
          <a:xfrm>
            <a:off x="2159000" y="3556000"/>
            <a:ext cx="95250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9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Supabase Auth + PostgreSQL</a:t>
            </a:r>
            <a:r>
              <a:rPr lang="en-US" sz="293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streamlined backend — authentication, database, and API in one platform</a:t>
            </a:r>
            <a:endParaRPr lang="en-US" sz="2930" dirty="0"/>
          </a:p>
        </p:txBody>
      </p:sp>
      <p:sp>
        <p:nvSpPr>
          <p:cNvPr id="6" name="Shape 4"/>
          <p:cNvSpPr/>
          <p:nvPr/>
        </p:nvSpPr>
        <p:spPr>
          <a:xfrm>
            <a:off x="1651000" y="5207000"/>
            <a:ext cx="216027" cy="216027"/>
          </a:xfrm>
          <a:prstGeom prst="ellipse">
            <a:avLst/>
          </a:prstGeom>
          <a:solidFill>
            <a:srgbClr val="7EC0DA"/>
          </a:solidFill>
        </p:spPr>
      </p:sp>
      <p:sp>
        <p:nvSpPr>
          <p:cNvPr id="7" name="Text 5"/>
          <p:cNvSpPr/>
          <p:nvPr/>
        </p:nvSpPr>
        <p:spPr>
          <a:xfrm>
            <a:off x="2159000" y="5080000"/>
            <a:ext cx="95250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9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RLS policies</a:t>
            </a:r>
            <a:r>
              <a:rPr lang="en-US" sz="293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provided built-in security without writing custom middleware for every endpoint</a:t>
            </a:r>
            <a:endParaRPr lang="en-US" sz="2930" dirty="0"/>
          </a:p>
        </p:txBody>
      </p:sp>
      <p:sp>
        <p:nvSpPr>
          <p:cNvPr id="8" name="Shape 6"/>
          <p:cNvSpPr/>
          <p:nvPr/>
        </p:nvSpPr>
        <p:spPr>
          <a:xfrm>
            <a:off x="1651000" y="6731000"/>
            <a:ext cx="216027" cy="216027"/>
          </a:xfrm>
          <a:prstGeom prst="ellipse">
            <a:avLst/>
          </a:prstGeom>
          <a:solidFill>
            <a:srgbClr val="7EC0DA"/>
          </a:solidFill>
        </p:spPr>
      </p:sp>
      <p:sp>
        <p:nvSpPr>
          <p:cNvPr id="9" name="Text 7"/>
          <p:cNvSpPr/>
          <p:nvPr/>
        </p:nvSpPr>
        <p:spPr>
          <a:xfrm>
            <a:off x="2159000" y="6604000"/>
            <a:ext cx="95250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9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Soft-delete pattern</a:t>
            </a:r>
            <a:r>
              <a:rPr lang="en-US" sz="293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protected data integrity while giving users the expected "delete" experience</a:t>
            </a:r>
            <a:endParaRPr lang="en-US" sz="2930" dirty="0"/>
          </a:p>
        </p:txBody>
      </p:sp>
      <p:sp>
        <p:nvSpPr>
          <p:cNvPr id="10" name="Shape 8"/>
          <p:cNvSpPr/>
          <p:nvPr/>
        </p:nvSpPr>
        <p:spPr>
          <a:xfrm>
            <a:off x="12192000" y="2286000"/>
            <a:ext cx="25400" cy="6350000"/>
          </a:xfrm>
          <a:prstGeom prst="rect">
            <a:avLst/>
          </a:prstGeom>
          <a:solidFill>
            <a:srgbClr val="444444"/>
          </a:solidFill>
        </p:spPr>
      </p:sp>
      <p:sp>
        <p:nvSpPr>
          <p:cNvPr id="11" name="Text 9"/>
          <p:cNvSpPr/>
          <p:nvPr/>
        </p:nvSpPr>
        <p:spPr>
          <a:xfrm>
            <a:off x="12700000" y="2286000"/>
            <a:ext cx="5080000" cy="762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kern="0" spc="-120" dirty="0">
                <a:solidFill>
                  <a:srgbClr val="C050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081000" y="3683000"/>
            <a:ext cx="216027" cy="216027"/>
          </a:xfrm>
          <a:prstGeom prst="ellipse">
            <a:avLst/>
          </a:prstGeom>
          <a:solidFill>
            <a:srgbClr val="C0504D"/>
          </a:solidFill>
        </p:spPr>
      </p:sp>
      <p:sp>
        <p:nvSpPr>
          <p:cNvPr id="13" name="Text 11"/>
          <p:cNvSpPr/>
          <p:nvPr/>
        </p:nvSpPr>
        <p:spPr>
          <a:xfrm>
            <a:off x="13589000" y="3556000"/>
            <a:ext cx="95250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9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Composite index design</a:t>
            </a:r>
            <a:r>
              <a:rPr lang="en-US" sz="293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— balancing query performance for search vs. write overhead on insert</a:t>
            </a:r>
            <a:endParaRPr lang="en-US" sz="2930" dirty="0"/>
          </a:p>
        </p:txBody>
      </p:sp>
      <p:sp>
        <p:nvSpPr>
          <p:cNvPr id="14" name="Shape 12"/>
          <p:cNvSpPr/>
          <p:nvPr/>
        </p:nvSpPr>
        <p:spPr>
          <a:xfrm>
            <a:off x="13081000" y="5207000"/>
            <a:ext cx="216027" cy="216027"/>
          </a:xfrm>
          <a:prstGeom prst="ellipse">
            <a:avLst/>
          </a:prstGeom>
          <a:solidFill>
            <a:srgbClr val="C0504D"/>
          </a:solidFill>
        </p:spPr>
      </p:sp>
      <p:sp>
        <p:nvSpPr>
          <p:cNvPr id="15" name="Text 13"/>
          <p:cNvSpPr/>
          <p:nvPr/>
        </p:nvSpPr>
        <p:spPr>
          <a:xfrm>
            <a:off x="13589000" y="5080000"/>
            <a:ext cx="95250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9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JWT session edge cases</a:t>
            </a:r>
            <a:r>
              <a:rPr lang="en-US" sz="293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— handling expired tokens, concurrent logins across tabs</a:t>
            </a:r>
            <a:endParaRPr lang="en-US" sz="2930" dirty="0"/>
          </a:p>
        </p:txBody>
      </p:sp>
      <p:sp>
        <p:nvSpPr>
          <p:cNvPr id="16" name="Shape 14"/>
          <p:cNvSpPr/>
          <p:nvPr/>
        </p:nvSpPr>
        <p:spPr>
          <a:xfrm>
            <a:off x="13081000" y="6731000"/>
            <a:ext cx="216027" cy="216027"/>
          </a:xfrm>
          <a:prstGeom prst="ellipse">
            <a:avLst/>
          </a:prstGeom>
          <a:solidFill>
            <a:srgbClr val="C0504D"/>
          </a:solidFill>
        </p:spPr>
      </p:sp>
      <p:sp>
        <p:nvSpPr>
          <p:cNvPr id="17" name="Text 15"/>
          <p:cNvSpPr/>
          <p:nvPr/>
        </p:nvSpPr>
        <p:spPr>
          <a:xfrm>
            <a:off x="13589000" y="6604000"/>
            <a:ext cx="95250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9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Privacy vs. verification</a:t>
            </a:r>
            <a:r>
              <a:rPr lang="en-US" sz="293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— real-name requirement creates tension with user anonymity preferences</a:t>
            </a:r>
            <a:endParaRPr lang="en-US" sz="2930" dirty="0"/>
          </a:p>
        </p:txBody>
      </p:sp>
      <p:sp>
        <p:nvSpPr>
          <p:cNvPr id="18" name="Text 16"/>
          <p:cNvSpPr/>
          <p:nvPr/>
        </p:nvSpPr>
        <p:spPr>
          <a:xfrm>
            <a:off x="1249680" y="9144000"/>
            <a:ext cx="21844000" cy="127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Key takeaway:</a:t>
            </a:r>
            <a:r>
              <a:rPr lang="en-US" sz="28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Security and usability are always in tension — every design choice involves trade-offs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762000"/>
            <a:ext cx="20320000" cy="1143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5600" b="1" kern="0" spc="-12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Reflection on Using AI Tools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1249680" y="2032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How AI helped — and where we had to push back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49680" y="3302000"/>
            <a:ext cx="10160000" cy="762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4130" b="1" kern="0" spc="-120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WHERE AI HELPED</a:t>
            </a:r>
            <a:endParaRPr lang="en-US" sz="4130" dirty="0"/>
          </a:p>
        </p:txBody>
      </p:sp>
      <p:sp>
        <p:nvSpPr>
          <p:cNvPr id="5" name="Shape 3"/>
          <p:cNvSpPr/>
          <p:nvPr/>
        </p:nvSpPr>
        <p:spPr>
          <a:xfrm>
            <a:off x="1651000" y="4572000"/>
            <a:ext cx="216027" cy="216027"/>
          </a:xfrm>
          <a:prstGeom prst="ellipse">
            <a:avLst/>
          </a:prstGeom>
          <a:solidFill>
            <a:srgbClr val="7EC0DA"/>
          </a:solidFill>
        </p:spPr>
      </p:sp>
      <p:sp>
        <p:nvSpPr>
          <p:cNvPr id="6" name="Text 4"/>
          <p:cNvSpPr/>
          <p:nvPr/>
        </p:nvSpPr>
        <p:spPr>
          <a:xfrm>
            <a:off x="2159000" y="4445000"/>
            <a:ext cx="95250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9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Schema design</a:t>
            </a:r>
            <a:r>
              <a:rPr lang="en-US" sz="293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— AI suggested field types, constraints, and index strategies that matched our requirements</a:t>
            </a:r>
            <a:endParaRPr lang="en-US" sz="2930" dirty="0"/>
          </a:p>
        </p:txBody>
      </p:sp>
      <p:sp>
        <p:nvSpPr>
          <p:cNvPr id="7" name="Shape 5"/>
          <p:cNvSpPr/>
          <p:nvPr/>
        </p:nvSpPr>
        <p:spPr>
          <a:xfrm>
            <a:off x="1651000" y="6096000"/>
            <a:ext cx="216027" cy="216027"/>
          </a:xfrm>
          <a:prstGeom prst="ellipse">
            <a:avLst/>
          </a:prstGeom>
          <a:solidFill>
            <a:srgbClr val="7EC0DA"/>
          </a:solidFill>
        </p:spPr>
      </p:sp>
      <p:sp>
        <p:nvSpPr>
          <p:cNvPr id="8" name="Text 6"/>
          <p:cNvSpPr/>
          <p:nvPr/>
        </p:nvSpPr>
        <p:spPr>
          <a:xfrm>
            <a:off x="2159000" y="5969000"/>
            <a:ext cx="95250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9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Auth flow structure</a:t>
            </a:r>
            <a:r>
              <a:rPr lang="en-US" sz="293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— AI outlined the verification → login → route guard pattern we implemented</a:t>
            </a:r>
            <a:endParaRPr lang="en-US" sz="2930" dirty="0"/>
          </a:p>
        </p:txBody>
      </p:sp>
      <p:sp>
        <p:nvSpPr>
          <p:cNvPr id="9" name="Shape 7"/>
          <p:cNvSpPr/>
          <p:nvPr/>
        </p:nvSpPr>
        <p:spPr>
          <a:xfrm>
            <a:off x="1651000" y="7620000"/>
            <a:ext cx="216027" cy="216027"/>
          </a:xfrm>
          <a:prstGeom prst="ellipse">
            <a:avLst/>
          </a:prstGeom>
          <a:solidFill>
            <a:srgbClr val="7EC0DA"/>
          </a:solidFill>
        </p:spPr>
      </p:sp>
      <p:sp>
        <p:nvSpPr>
          <p:cNvPr id="10" name="Text 8"/>
          <p:cNvSpPr/>
          <p:nvPr/>
        </p:nvSpPr>
        <p:spPr>
          <a:xfrm>
            <a:off x="2159000" y="7493000"/>
            <a:ext cx="95250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9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SQL generation</a:t>
            </a:r>
            <a:r>
              <a:rPr lang="en-US" sz="293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— aggregation queries, RLS policies, and trigger functions were drafted quickly</a:t>
            </a:r>
            <a:endParaRPr lang="en-US" sz="2930" dirty="0"/>
          </a:p>
        </p:txBody>
      </p:sp>
      <p:sp>
        <p:nvSpPr>
          <p:cNvPr id="11" name="Text 9"/>
          <p:cNvSpPr/>
          <p:nvPr/>
        </p:nvSpPr>
        <p:spPr>
          <a:xfrm>
            <a:off x="12700000" y="3302000"/>
            <a:ext cx="10160000" cy="762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130" b="1" kern="0" spc="-120" dirty="0">
                <a:solidFill>
                  <a:srgbClr val="C050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WHERE WE PUSHED BACK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081000" y="4572000"/>
            <a:ext cx="216027" cy="216027"/>
          </a:xfrm>
          <a:prstGeom prst="ellipse">
            <a:avLst/>
          </a:prstGeom>
          <a:solidFill>
            <a:srgbClr val="C0504D"/>
          </a:solidFill>
        </p:spPr>
      </p:sp>
      <p:sp>
        <p:nvSpPr>
          <p:cNvPr id="13" name="Text 11"/>
          <p:cNvSpPr/>
          <p:nvPr/>
        </p:nvSpPr>
        <p:spPr>
          <a:xfrm>
            <a:off x="13589000" y="4445000"/>
            <a:ext cx="9525000" cy="196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altLang="zh-CN" sz="2930" b="1" dirty="0">
                <a:solidFill>
                  <a:schemeClr val="bg1"/>
                </a:solidFill>
              </a:rPr>
              <a:t>UI/UX design</a:t>
            </a:r>
            <a:r>
              <a:rPr lang="en-US" altLang="zh-CN" sz="2930" dirty="0">
                <a:solidFill>
                  <a:schemeClr val="bg1"/>
                </a:solidFill>
              </a:rPr>
              <a:t> — AI-suggested frontend designs lacked visual polish and were not user-friendly; we refined layouts and interactions to improve usability</a:t>
            </a:r>
            <a:endParaRPr lang="en-US" altLang="zh-CN" sz="2930" dirty="0">
              <a:solidFill>
                <a:schemeClr val="bg1"/>
              </a:solidFill>
            </a:endParaRPr>
          </a:p>
          <a:p>
            <a:pPr>
              <a:lnSpc>
                <a:spcPct val="140000"/>
              </a:lnSpc>
            </a:pPr>
            <a:r>
              <a:rPr lang="en-US" altLang="zh-CN" sz="2930" b="1" dirty="0">
                <a:solidFill>
                  <a:schemeClr val="bg1"/>
                </a:solidFill>
                <a:sym typeface="+mn-ea"/>
              </a:rPr>
              <a:t>RLS policy design</a:t>
            </a:r>
            <a:r>
              <a:rPr lang="en-US" altLang="zh-CN" sz="2930" dirty="0">
                <a:solidFill>
                  <a:schemeClr val="bg1"/>
                </a:solidFill>
                <a:sym typeface="+mn-ea"/>
              </a:rPr>
              <a:t> — initial AI-authored Row Level Security rules contained critical flaws that prevented post deletion; we reworked the logic to align with our access-control requirements</a:t>
            </a:r>
            <a:endParaRPr lang="en-US" altLang="zh-CN" sz="2930" dirty="0">
              <a:solidFill>
                <a:schemeClr val="bg1"/>
              </a:solidFill>
            </a:endParaRPr>
          </a:p>
          <a:p>
            <a:pPr>
              <a:lnSpc>
                <a:spcPct val="140000"/>
              </a:lnSpc>
            </a:pPr>
            <a:endParaRPr lang="en-US" altLang="zh-CN" sz="2930" dirty="0">
              <a:solidFill>
                <a:schemeClr val="bg1"/>
              </a:solidFill>
            </a:endParaRPr>
          </a:p>
          <a:p>
            <a:pPr>
              <a:lnSpc>
                <a:spcPct val="140000"/>
              </a:lnSpc>
            </a:pPr>
            <a:endParaRPr lang="en-US" altLang="zh-CN" sz="2930" dirty="0">
              <a:solidFill>
                <a:schemeClr val="bg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3081000" y="6604000"/>
            <a:ext cx="216027" cy="216027"/>
          </a:xfrm>
          <a:prstGeom prst="ellipse">
            <a:avLst/>
          </a:prstGeom>
          <a:solidFill>
            <a:srgbClr val="C0504D"/>
          </a:solidFill>
        </p:spPr>
      </p:sp>
      <p:sp>
        <p:nvSpPr>
          <p:cNvPr id="15" name="Text 13"/>
          <p:cNvSpPr/>
          <p:nvPr/>
        </p:nvSpPr>
        <p:spPr>
          <a:xfrm>
            <a:off x="11585575" y="1968500"/>
            <a:ext cx="95250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93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Session handling</a:t>
            </a:r>
            <a:r>
              <a:rPr lang="en-US" sz="293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— AI missed edge cases like token refresh race conditions; manual testing revealed gaps</a:t>
            </a:r>
            <a:endParaRPr lang="en-US" sz="2930" dirty="0"/>
          </a:p>
        </p:txBody>
      </p:sp>
      <p:sp>
        <p:nvSpPr>
          <p:cNvPr id="16" name="Shape 14"/>
          <p:cNvSpPr/>
          <p:nvPr/>
        </p:nvSpPr>
        <p:spPr>
          <a:xfrm>
            <a:off x="13081000" y="8128000"/>
            <a:ext cx="216027" cy="216027"/>
          </a:xfrm>
          <a:prstGeom prst="ellipse">
            <a:avLst/>
          </a:prstGeom>
          <a:solidFill>
            <a:srgbClr val="C0504D"/>
          </a:solidFill>
        </p:spPr>
      </p:sp>
      <p:sp>
        <p:nvSpPr>
          <p:cNvPr id="18" name="Text 16"/>
          <p:cNvSpPr/>
          <p:nvPr/>
        </p:nvSpPr>
        <p:spPr>
          <a:xfrm>
            <a:off x="1249680" y="9652000"/>
            <a:ext cx="21844000" cy="152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"AI is a powerful assistant, but domain judgment and critical evaluation remain essential."</a:t>
            </a:r>
            <a:endParaRPr lang="en-US" sz="4000" dirty="0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04115" y="8026400"/>
            <a:ext cx="692785" cy="4191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517245386807-bb43f82c33c4?w=1200"/>
          <p:cNvPicPr>
            <a:picLocks noChangeAspect="1"/>
          </p:cNvPicPr>
          <p:nvPr/>
        </p:nvPicPr>
        <p:blipFill>
          <a:blip r:embed="rId1"/>
          <a:srcRect l="22840" r="22840"/>
          <a:stretch>
            <a:fillRect/>
          </a:stretch>
        </p:blipFill>
        <p:spPr>
          <a:xfrm>
            <a:off x="0" y="0"/>
            <a:ext cx="11176000" cy="1371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065000" y="3556000"/>
            <a:ext cx="10795000" cy="241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9870" b="1" kern="0" spc="-12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Thank You</a:t>
            </a:r>
            <a:endParaRPr lang="en-US" sz="9870" dirty="0"/>
          </a:p>
        </p:txBody>
      </p:sp>
      <p:sp>
        <p:nvSpPr>
          <p:cNvPr id="4" name="Text 1"/>
          <p:cNvSpPr/>
          <p:nvPr/>
        </p:nvSpPr>
        <p:spPr>
          <a:xfrm>
            <a:off x="12065000" y="6858000"/>
            <a:ext cx="10795000" cy="889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lang="en-US" altLang="zh-CN" sz="3730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Campus Taste Archive</a:t>
            </a:r>
            <a:r>
              <a:rPr lang="en-US" sz="3730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— Real Reviews, Real Students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065000" y="8255000"/>
            <a:ext cx="7620000" cy="762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Questions &amp; Answers Welcome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2065000" y="6223000"/>
            <a:ext cx="2540000" cy="50800"/>
          </a:xfrm>
          <a:prstGeom prst="rect">
            <a:avLst/>
          </a:prstGeom>
          <a:solidFill>
            <a:srgbClr val="7EC0DA"/>
          </a:solidFill>
        </p:spPr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338,&quot;left&quot;:304.15,&quot;top&quot;:347.85,&quot;width&quot;:650}"/>
</p:tagLst>
</file>

<file path=ppt/tags/tag2.xml><?xml version="1.0" encoding="utf-8"?>
<p:tagLst xmlns:p="http://schemas.openxmlformats.org/presentationml/2006/main">
  <p:tag name="KSO_WM_DIAGRAM_VIRTUALLY_FRAME" val="{&quot;height&quot;:338,&quot;left&quot;:304.15,&quot;top&quot;:347.85,&quot;width&quot;:650}"/>
</p:tagLst>
</file>

<file path=ppt/tags/tag3.xml><?xml version="1.0" encoding="utf-8"?>
<p:tagLst xmlns:p="http://schemas.openxmlformats.org/presentationml/2006/main">
  <p:tag name="KSO_WM_DIAGRAM_VIRTUALLY_FRAME" val="{&quot;height&quot;:338,&quot;left&quot;:304.15,&quot;top&quot;:347.85,&quot;width&quot;:650}"/>
</p:tagLst>
</file>

<file path=ppt/tags/tag4.xml><?xml version="1.0" encoding="utf-8"?>
<p:tagLst xmlns:p="http://schemas.openxmlformats.org/presentationml/2006/main">
  <p:tag name="KSO_WM_DIAGRAM_VIRTUALLY_FRAME" val="{&quot;height&quot;:338,&quot;left&quot;:304.15,&quot;top&quot;:347.85,&quot;width&quot;:650}"/>
</p:tagLst>
</file>

<file path=ppt/tags/tag5.xml><?xml version="1.0" encoding="utf-8"?>
<p:tagLst xmlns:p="http://schemas.openxmlformats.org/presentationml/2006/main">
  <p:tag name="KSO_WM_DIAGRAM_VIRTUALLY_FRAME" val="{&quot;height&quot;:338,&quot;left&quot;:304.15,&quot;top&quot;:347.85,&quot;width&quot;:650}"/>
</p:tagLst>
</file>

<file path=ppt/tags/tag6.xml><?xml version="1.0" encoding="utf-8"?>
<p:tagLst xmlns:p="http://schemas.openxmlformats.org/presentationml/2006/main">
  <p:tag name="KSO_WM_DIAGRAM_VIRTUALLY_FRAME" val="{&quot;height&quot;:338,&quot;left&quot;:304.15,&quot;top&quot;:347.85,&quot;width&quot;:650}"/>
</p:tagLst>
</file>

<file path=ppt/tags/tag7.xml><?xml version="1.0" encoding="utf-8"?>
<p:tagLst xmlns:p="http://schemas.openxmlformats.org/presentationml/2006/main">
  <p:tag name="KSO_WM_DIAGRAM_VIRTUALLY_FRAME" val="{&quot;height&quot;:338,&quot;left&quot;:304.15,&quot;top&quot;:347.85,&quot;width&quot;:650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5783</Words>
  <Application>WPS 演示</Application>
  <PresentationFormat>On-screen Show (16:9)</PresentationFormat>
  <Paragraphs>291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宋体</vt:lpstr>
      <vt:lpstr>Wingdings</vt:lpstr>
      <vt:lpstr>Liter</vt:lpstr>
      <vt:lpstr>Liter</vt:lpstr>
      <vt:lpstr>Liter</vt:lpstr>
      <vt:lpstr>Arial</vt:lpstr>
      <vt:lpstr>Calibri</vt:lpstr>
      <vt:lpstr>等线</vt:lpstr>
      <vt:lpstr>微软雅黑</vt:lpstr>
      <vt:lpstr>Arial Unicode MS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Don't Buy It! - Campus Review Platform Presentation</dc:title>
  <dc:creator>Kimi</dc:creator>
  <dc:subject>Don't Buy It! - Campus Review Platform Presentation</dc:subject>
  <cp:lastModifiedBy>胡子晗</cp:lastModifiedBy>
  <cp:revision>10</cp:revision>
  <dcterms:created xsi:type="dcterms:W3CDTF">2026-05-24T11:33:00Z</dcterms:created>
  <dcterms:modified xsi:type="dcterms:W3CDTF">2026-05-26T08:52:06Z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{"Label":"Don't Buy It! - Campus Review Platform Presentation","ContentProducer":"001191110108MACG2KBH8F10000","ProduceID":"19e59c1b-c0f2-8315-8000-0000b187fe34","ReservedCode1":"","ContentPropagator":"001191110108MACG2KBH8F20000","PropagateID":"19e59c1b-c0f2-8315-8000-0000b187fe34","ReservedCode2":""}</vt:lpwstr>
  </property>
  <property fmtid="{D5CDD505-2E9C-101B-9397-08002B2CF9AE}" pid="3" name="ICV">
    <vt:lpwstr>E76C2397C8574329BFDD61AB471F083B_13</vt:lpwstr>
  </property>
  <property fmtid="{D5CDD505-2E9C-101B-9397-08002B2CF9AE}" pid="4" name="KSOProductBuildVer">
    <vt:lpwstr>2052-12.1.0.26375</vt:lpwstr>
  </property>
</Properties>
</file>